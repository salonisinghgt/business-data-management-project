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0" r:id="rId1"/>
  </p:sldMasterIdLst>
  <p:notesMasterIdLst>
    <p:notesMasterId r:id="rId20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B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50"/>
    <p:restoredTop sz="94633"/>
  </p:normalViewPr>
  <p:slideViewPr>
    <p:cSldViewPr snapToGrid="0">
      <p:cViewPr>
        <p:scale>
          <a:sx n="121" d="100"/>
          <a:sy n="121" d="100"/>
        </p:scale>
        <p:origin x="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0E192C-F035-4B40-BA85-AC2E2812EE45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C9A1F18-0812-FC42-A5E7-B2297A774211}">
      <dgm:prSet phldrT="[Text]"/>
      <dgm:spPr/>
      <dgm:t>
        <a:bodyPr/>
        <a:lstStyle/>
        <a:p>
          <a:r>
            <a:rPr lang="en-IN" b="0" i="0" u="none" dirty="0"/>
            <a:t>Leverage High-Converting Segments</a:t>
          </a:r>
          <a:endParaRPr lang="en-GB" dirty="0"/>
        </a:p>
      </dgm:t>
    </dgm:pt>
    <dgm:pt modelId="{AE9A8EC2-FBDA-7942-AEB5-48DEFDD1FCE2}" type="parTrans" cxnId="{EA0F526A-67C8-454E-BB06-DBB612D1C82D}">
      <dgm:prSet/>
      <dgm:spPr/>
      <dgm:t>
        <a:bodyPr/>
        <a:lstStyle/>
        <a:p>
          <a:endParaRPr lang="en-GB"/>
        </a:p>
      </dgm:t>
    </dgm:pt>
    <dgm:pt modelId="{2224E24C-D8A3-B24B-8278-5DA94E1347E8}" type="sibTrans" cxnId="{EA0F526A-67C8-454E-BB06-DBB612D1C82D}">
      <dgm:prSet/>
      <dgm:spPr/>
      <dgm:t>
        <a:bodyPr/>
        <a:lstStyle/>
        <a:p>
          <a:endParaRPr lang="en-GB"/>
        </a:p>
      </dgm:t>
    </dgm:pt>
    <dgm:pt modelId="{45D5A5D1-E9CB-8D44-BAD6-31BADD9021E0}">
      <dgm:prSet phldrT="[Text]" custT="1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GB" sz="1600" b="0" dirty="0"/>
            <a:t>To </a:t>
          </a:r>
          <a:r>
            <a:rPr lang="en-GB" sz="1600" b="1" dirty="0"/>
            <a:t>maximize early returns</a:t>
          </a:r>
          <a:r>
            <a:rPr lang="en-GB" sz="1600" b="0" dirty="0"/>
            <a:t> focus on:</a:t>
          </a:r>
        </a:p>
      </dgm:t>
    </dgm:pt>
    <dgm:pt modelId="{5E1A78F5-84A6-1D4B-9FFA-95478775A9D1}" type="parTrans" cxnId="{4FB8FE44-F14B-2F4B-B0F4-97992EAC7022}">
      <dgm:prSet/>
      <dgm:spPr/>
      <dgm:t>
        <a:bodyPr/>
        <a:lstStyle/>
        <a:p>
          <a:endParaRPr lang="en-GB"/>
        </a:p>
      </dgm:t>
    </dgm:pt>
    <dgm:pt modelId="{2683018A-BE65-B743-A57D-7900C337B944}" type="sibTrans" cxnId="{4FB8FE44-F14B-2F4B-B0F4-97992EAC7022}">
      <dgm:prSet/>
      <dgm:spPr/>
      <dgm:t>
        <a:bodyPr/>
        <a:lstStyle/>
        <a:p>
          <a:endParaRPr lang="en-GB"/>
        </a:p>
      </dgm:t>
    </dgm:pt>
    <dgm:pt modelId="{25450A5A-2015-1C44-9BD6-A56F9D5C01D9}">
      <dgm:prSet phldrT="[Text]"/>
      <dgm:spPr/>
      <dgm:t>
        <a:bodyPr/>
        <a:lstStyle/>
        <a:p>
          <a:r>
            <a:rPr lang="en-US" b="0" dirty="0"/>
            <a:t>Segment-Specific Messaging and Call Strategies</a:t>
          </a:r>
          <a:endParaRPr lang="en-GB" b="0" dirty="0"/>
        </a:p>
      </dgm:t>
    </dgm:pt>
    <dgm:pt modelId="{AA1FD39D-C6F3-C04D-BB91-7E35F741F33D}" type="parTrans" cxnId="{41928B20-AAD7-7D43-8770-7F22F63ACA5C}">
      <dgm:prSet/>
      <dgm:spPr/>
      <dgm:t>
        <a:bodyPr/>
        <a:lstStyle/>
        <a:p>
          <a:endParaRPr lang="en-GB"/>
        </a:p>
      </dgm:t>
    </dgm:pt>
    <dgm:pt modelId="{77CE7428-7402-DB46-968A-A9C0C8572B53}" type="sibTrans" cxnId="{41928B20-AAD7-7D43-8770-7F22F63ACA5C}">
      <dgm:prSet/>
      <dgm:spPr/>
      <dgm:t>
        <a:bodyPr/>
        <a:lstStyle/>
        <a:p>
          <a:endParaRPr lang="en-GB"/>
        </a:p>
      </dgm:t>
    </dgm:pt>
    <dgm:pt modelId="{779BA2B7-229D-0340-AE7A-A71763552354}">
      <dgm:prSet phldrT="[Text]" custT="1"/>
      <dgm:spPr/>
      <dgm:t>
        <a:bodyPr/>
        <a:lstStyle/>
        <a:p>
          <a:r>
            <a:rPr lang="en-IN" sz="1600" b="1" dirty="0"/>
            <a:t>Deprioritize</a:t>
          </a:r>
          <a:r>
            <a:rPr lang="en-IN" sz="1600" dirty="0"/>
            <a:t> efforts where multiple weak traits overlap</a:t>
          </a:r>
          <a:endParaRPr lang="en-GB" sz="1600" dirty="0"/>
        </a:p>
      </dgm:t>
    </dgm:pt>
    <dgm:pt modelId="{BEBC3416-A742-C64B-9E0E-A2D9FEB253AF}" type="parTrans" cxnId="{F9D29307-68E8-6B40-A825-E918C4C2D79D}">
      <dgm:prSet/>
      <dgm:spPr/>
      <dgm:t>
        <a:bodyPr/>
        <a:lstStyle/>
        <a:p>
          <a:endParaRPr lang="en-GB"/>
        </a:p>
      </dgm:t>
    </dgm:pt>
    <dgm:pt modelId="{A0A8F285-17C7-324F-A8A6-89C257F6E85F}" type="sibTrans" cxnId="{F9D29307-68E8-6B40-A825-E918C4C2D79D}">
      <dgm:prSet/>
      <dgm:spPr/>
      <dgm:t>
        <a:bodyPr/>
        <a:lstStyle/>
        <a:p>
          <a:endParaRPr lang="en-GB"/>
        </a:p>
      </dgm:t>
    </dgm:pt>
    <dgm:pt modelId="{FA9FB8D3-3480-2944-8BBB-AD97E550E111}">
      <dgm:prSet phldrT="[Text]"/>
      <dgm:spPr/>
      <dgm:t>
        <a:bodyPr/>
        <a:lstStyle/>
        <a:p>
          <a:r>
            <a:rPr lang="en-US" b="0" dirty="0"/>
            <a:t>Strategic Engagement of the 30–59 Age Segment</a:t>
          </a:r>
          <a:endParaRPr lang="en-GB" b="0" dirty="0"/>
        </a:p>
      </dgm:t>
    </dgm:pt>
    <dgm:pt modelId="{735CEFAF-F4E5-0F4B-8B64-7F807FCB89DF}" type="parTrans" cxnId="{A0F60D6F-36E5-F74C-97BF-CA0CFC7D378A}">
      <dgm:prSet/>
      <dgm:spPr/>
      <dgm:t>
        <a:bodyPr/>
        <a:lstStyle/>
        <a:p>
          <a:endParaRPr lang="en-GB"/>
        </a:p>
      </dgm:t>
    </dgm:pt>
    <dgm:pt modelId="{CCBF4503-D504-5648-88D9-E72A9D1B68B0}" type="sibTrans" cxnId="{A0F60D6F-36E5-F74C-97BF-CA0CFC7D378A}">
      <dgm:prSet/>
      <dgm:spPr/>
      <dgm:t>
        <a:bodyPr/>
        <a:lstStyle/>
        <a:p>
          <a:endParaRPr lang="en-GB"/>
        </a:p>
      </dgm:t>
    </dgm:pt>
    <dgm:pt modelId="{9CB4C021-7658-994D-8FEA-C24EF01E5F87}">
      <dgm:prSet phldrT="[Text]" custT="1"/>
      <dgm:spPr/>
      <dgm:t>
        <a:bodyPr/>
        <a:lstStyle/>
        <a:p>
          <a:r>
            <a:rPr lang="en-IN" sz="1600" dirty="0"/>
            <a:t>Introduce </a:t>
          </a:r>
          <a:r>
            <a:rPr lang="en-IN" sz="1600" b="1" dirty="0"/>
            <a:t>flexible</a:t>
          </a:r>
          <a:r>
            <a:rPr lang="en-IN" sz="1600" dirty="0"/>
            <a:t> term deposits with easy withdrawal/top-up</a:t>
          </a:r>
          <a:endParaRPr lang="en-GB" sz="1600" dirty="0"/>
        </a:p>
      </dgm:t>
    </dgm:pt>
    <dgm:pt modelId="{451E9D15-4A52-754D-9AC9-AA42A63F260E}" type="parTrans" cxnId="{356A1DA4-8DA6-4C44-B8A5-07F311F60315}">
      <dgm:prSet/>
      <dgm:spPr/>
      <dgm:t>
        <a:bodyPr/>
        <a:lstStyle/>
        <a:p>
          <a:endParaRPr lang="en-GB"/>
        </a:p>
      </dgm:t>
    </dgm:pt>
    <dgm:pt modelId="{A5E8B8B5-3652-9B47-A3ED-82E79EF2332D}" type="sibTrans" cxnId="{356A1DA4-8DA6-4C44-B8A5-07F311F60315}">
      <dgm:prSet/>
      <dgm:spPr/>
      <dgm:t>
        <a:bodyPr/>
        <a:lstStyle/>
        <a:p>
          <a:endParaRPr lang="en-GB"/>
        </a:p>
      </dgm:t>
    </dgm:pt>
    <dgm:pt modelId="{DC3CA0BD-193F-C245-A85F-FABC9D7F9A8F}">
      <dgm:prSet custT="1"/>
      <dgm:spPr/>
      <dgm:t>
        <a:bodyPr/>
        <a:lstStyle/>
        <a:p>
          <a:pPr>
            <a:buSzPts val="1000"/>
            <a:buFont typeface="Wingdings" pitchFamily="2" charset="2"/>
            <a:buChar char="§"/>
          </a:pPr>
          <a:r>
            <a:rPr lang="en-IN" sz="1600" b="0" dirty="0"/>
            <a:t>Retired and Student Profiles</a:t>
          </a:r>
        </a:p>
      </dgm:t>
    </dgm:pt>
    <dgm:pt modelId="{B44E2069-EBE4-FA4F-9D33-5F38C71F0DF9}" type="parTrans" cxnId="{D0B6362D-05F4-8446-B220-2E30EC0C9CFE}">
      <dgm:prSet/>
      <dgm:spPr/>
      <dgm:t>
        <a:bodyPr/>
        <a:lstStyle/>
        <a:p>
          <a:endParaRPr lang="en-GB"/>
        </a:p>
      </dgm:t>
    </dgm:pt>
    <dgm:pt modelId="{7815C366-8532-1E40-A953-AEF0852EE832}" type="sibTrans" cxnId="{D0B6362D-05F4-8446-B220-2E30EC0C9CFE}">
      <dgm:prSet/>
      <dgm:spPr/>
      <dgm:t>
        <a:bodyPr/>
        <a:lstStyle/>
        <a:p>
          <a:endParaRPr lang="en-GB"/>
        </a:p>
      </dgm:t>
    </dgm:pt>
    <dgm:pt modelId="{83E428C0-598C-B144-8C60-237C069D0936}">
      <dgm:prSet custT="1"/>
      <dgm:spPr/>
      <dgm:t>
        <a:bodyPr/>
        <a:lstStyle/>
        <a:p>
          <a:pPr>
            <a:buSzPts val="1000"/>
            <a:buFont typeface="Wingdings" pitchFamily="2" charset="2"/>
            <a:buChar char="§"/>
          </a:pPr>
          <a:r>
            <a:rPr lang="en-IN" sz="1600" b="0" dirty="0"/>
            <a:t>Highly Educated Individuals</a:t>
          </a:r>
        </a:p>
      </dgm:t>
    </dgm:pt>
    <dgm:pt modelId="{A5112DB2-A7B4-3449-8420-3E31B25C22AC}" type="parTrans" cxnId="{901A8D5E-F2CD-1C4C-B4C8-B367CBE0AB3B}">
      <dgm:prSet/>
      <dgm:spPr/>
      <dgm:t>
        <a:bodyPr/>
        <a:lstStyle/>
        <a:p>
          <a:endParaRPr lang="en-GB"/>
        </a:p>
      </dgm:t>
    </dgm:pt>
    <dgm:pt modelId="{F5A3E0BE-0EC2-024D-B42A-10585188BD7D}" type="sibTrans" cxnId="{901A8D5E-F2CD-1C4C-B4C8-B367CBE0AB3B}">
      <dgm:prSet/>
      <dgm:spPr/>
      <dgm:t>
        <a:bodyPr/>
        <a:lstStyle/>
        <a:p>
          <a:endParaRPr lang="en-GB"/>
        </a:p>
      </dgm:t>
    </dgm:pt>
    <dgm:pt modelId="{8FB680D4-CAFE-8843-9669-FCD2D0CD841C}">
      <dgm:prSet custT="1"/>
      <dgm:spPr/>
      <dgm:t>
        <a:bodyPr/>
        <a:lstStyle/>
        <a:p>
          <a:pPr>
            <a:buSzPts val="1000"/>
            <a:buFont typeface="Wingdings" pitchFamily="2" charset="2"/>
            <a:buChar char="§"/>
          </a:pPr>
          <a:r>
            <a:rPr lang="en-IN" sz="1600" b="0" dirty="0"/>
            <a:t>Long Call Duration (&gt;360s)</a:t>
          </a:r>
        </a:p>
      </dgm:t>
    </dgm:pt>
    <dgm:pt modelId="{536753F3-AC53-0D41-8915-3028C8212236}" type="parTrans" cxnId="{90563C8C-3FFE-3943-BFCC-483851A3CBAF}">
      <dgm:prSet/>
      <dgm:spPr/>
      <dgm:t>
        <a:bodyPr/>
        <a:lstStyle/>
        <a:p>
          <a:endParaRPr lang="en-GB"/>
        </a:p>
      </dgm:t>
    </dgm:pt>
    <dgm:pt modelId="{4C0034E1-F1D4-C941-833F-D95B8E4F4D8A}" type="sibTrans" cxnId="{90563C8C-3FFE-3943-BFCC-483851A3CBAF}">
      <dgm:prSet/>
      <dgm:spPr/>
      <dgm:t>
        <a:bodyPr/>
        <a:lstStyle/>
        <a:p>
          <a:endParaRPr lang="en-GB"/>
        </a:p>
      </dgm:t>
    </dgm:pt>
    <dgm:pt modelId="{0AA77B43-F4F1-BE46-AACF-D89EFEBDE9E9}">
      <dgm:prSet custT="1"/>
      <dgm:spPr/>
      <dgm:t>
        <a:bodyPr/>
        <a:lstStyle/>
        <a:p>
          <a:pPr>
            <a:buSzPts val="1000"/>
            <a:buFont typeface="Wingdings" pitchFamily="2" charset="2"/>
            <a:buChar char="§"/>
          </a:pPr>
          <a:r>
            <a:rPr lang="en-IN" sz="1600" b="0" dirty="0"/>
            <a:t>Customers with Previous Campaign Success</a:t>
          </a:r>
        </a:p>
      </dgm:t>
    </dgm:pt>
    <dgm:pt modelId="{D09AD9FF-D86B-BA41-8FE2-8D182A74CAC2}" type="parTrans" cxnId="{8CCEAB01-0711-B846-84E6-0741B5C2FCC9}">
      <dgm:prSet/>
      <dgm:spPr/>
      <dgm:t>
        <a:bodyPr/>
        <a:lstStyle/>
        <a:p>
          <a:endParaRPr lang="en-GB"/>
        </a:p>
      </dgm:t>
    </dgm:pt>
    <dgm:pt modelId="{4ACEC26B-13CD-AE4E-B3C4-D8155F53FB31}" type="sibTrans" cxnId="{8CCEAB01-0711-B846-84E6-0741B5C2FCC9}">
      <dgm:prSet/>
      <dgm:spPr/>
      <dgm:t>
        <a:bodyPr/>
        <a:lstStyle/>
        <a:p>
          <a:endParaRPr lang="en-GB"/>
        </a:p>
      </dgm:t>
    </dgm:pt>
    <dgm:pt modelId="{2B52068A-6D35-3F42-9F1C-70126E698738}">
      <dgm:prSet custT="1"/>
      <dgm:spPr/>
      <dgm:t>
        <a:bodyPr/>
        <a:lstStyle/>
        <a:p>
          <a:pPr>
            <a:buSzPts val="1000"/>
            <a:buFont typeface="Wingdings" pitchFamily="2" charset="2"/>
            <a:buNone/>
          </a:pPr>
          <a:endParaRPr lang="en-IN" sz="1600" b="0" dirty="0"/>
        </a:p>
      </dgm:t>
    </dgm:pt>
    <dgm:pt modelId="{CD1721D9-7601-8B42-908E-2CFB2DC57064}" type="parTrans" cxnId="{F8A6916C-F6DA-3B41-9300-1FD33DB10969}">
      <dgm:prSet/>
      <dgm:spPr/>
      <dgm:t>
        <a:bodyPr/>
        <a:lstStyle/>
        <a:p>
          <a:endParaRPr lang="en-GB"/>
        </a:p>
      </dgm:t>
    </dgm:pt>
    <dgm:pt modelId="{E620D2C2-FC00-AD46-AB8A-AAA28EF52638}" type="sibTrans" cxnId="{F8A6916C-F6DA-3B41-9300-1FD33DB10969}">
      <dgm:prSet/>
      <dgm:spPr/>
      <dgm:t>
        <a:bodyPr/>
        <a:lstStyle/>
        <a:p>
          <a:endParaRPr lang="en-GB"/>
        </a:p>
      </dgm:t>
    </dgm:pt>
    <dgm:pt modelId="{1C345942-80A4-D345-A21F-DB2A7CAF32CB}">
      <dgm:prSet custT="1"/>
      <dgm:spPr/>
      <dgm:t>
        <a:bodyPr/>
        <a:lstStyle/>
        <a:p>
          <a:pPr>
            <a:buSzPts val="1000"/>
            <a:buFont typeface="Wingdings" pitchFamily="2" charset="2"/>
            <a:buChar char="§"/>
          </a:pPr>
          <a:r>
            <a:rPr lang="en-IN" sz="1600" b="0" dirty="0"/>
            <a:t>Senior Customers (Age 60+)</a:t>
          </a:r>
        </a:p>
      </dgm:t>
    </dgm:pt>
    <dgm:pt modelId="{9EEE6B85-5C1F-2A44-BA12-28FC8DAC3EE6}" type="parTrans" cxnId="{7907E20B-01BC-D84C-941B-856F79988A10}">
      <dgm:prSet/>
      <dgm:spPr/>
      <dgm:t>
        <a:bodyPr/>
        <a:lstStyle/>
        <a:p>
          <a:endParaRPr lang="en-GB"/>
        </a:p>
      </dgm:t>
    </dgm:pt>
    <dgm:pt modelId="{A37C03C8-B7FE-8348-849D-F6CC08C7A7AA}" type="sibTrans" cxnId="{7907E20B-01BC-D84C-941B-856F79988A10}">
      <dgm:prSet/>
      <dgm:spPr/>
      <dgm:t>
        <a:bodyPr/>
        <a:lstStyle/>
        <a:p>
          <a:endParaRPr lang="en-GB"/>
        </a:p>
      </dgm:t>
    </dgm:pt>
    <dgm:pt modelId="{DEA5AD8D-9199-F747-B515-D384EF814626}">
      <dgm:prSet custT="1"/>
      <dgm:spPr/>
      <dgm:t>
        <a:bodyPr/>
        <a:lstStyle/>
        <a:p>
          <a:r>
            <a:rPr lang="en-US" sz="1600" dirty="0"/>
            <a:t>premium deposit schemes,</a:t>
          </a:r>
          <a:endParaRPr lang="en-IN" sz="1600" b="0" dirty="0"/>
        </a:p>
      </dgm:t>
    </dgm:pt>
    <dgm:pt modelId="{702080DC-F998-9140-97E6-34B14A65D49C}" type="parTrans" cxnId="{B885B534-0278-0B4B-841E-A42F34BCDE16}">
      <dgm:prSet/>
      <dgm:spPr/>
      <dgm:t>
        <a:bodyPr/>
        <a:lstStyle/>
        <a:p>
          <a:endParaRPr lang="en-GB"/>
        </a:p>
      </dgm:t>
    </dgm:pt>
    <dgm:pt modelId="{F317697E-1683-3B40-9D1B-D1A27406750A}" type="sibTrans" cxnId="{B885B534-0278-0B4B-841E-A42F34BCDE16}">
      <dgm:prSet/>
      <dgm:spPr/>
      <dgm:t>
        <a:bodyPr/>
        <a:lstStyle/>
        <a:p>
          <a:endParaRPr lang="en-GB"/>
        </a:p>
      </dgm:t>
    </dgm:pt>
    <dgm:pt modelId="{AC41F1C5-0528-E04B-99C6-C59437E665E3}">
      <dgm:prSet custT="1"/>
      <dgm:spPr/>
      <dgm:t>
        <a:bodyPr/>
        <a:lstStyle/>
        <a:p>
          <a:r>
            <a:rPr lang="en-US" sz="1600" dirty="0"/>
            <a:t>loyalty-based incentives </a:t>
          </a:r>
          <a:endParaRPr lang="en-IN" sz="1600" b="0" dirty="0"/>
        </a:p>
      </dgm:t>
    </dgm:pt>
    <dgm:pt modelId="{3432C696-36FC-524C-BDFB-3FADD9D08A1A}" type="parTrans" cxnId="{17507B9C-C916-FA4C-8A47-1307C17B0E07}">
      <dgm:prSet/>
      <dgm:spPr/>
      <dgm:t>
        <a:bodyPr/>
        <a:lstStyle/>
        <a:p>
          <a:endParaRPr lang="en-GB"/>
        </a:p>
      </dgm:t>
    </dgm:pt>
    <dgm:pt modelId="{27A7ED94-B60C-E24D-9FF3-EE39007161C0}" type="sibTrans" cxnId="{17507B9C-C916-FA4C-8A47-1307C17B0E07}">
      <dgm:prSet/>
      <dgm:spPr/>
      <dgm:t>
        <a:bodyPr/>
        <a:lstStyle/>
        <a:p>
          <a:endParaRPr lang="en-GB"/>
        </a:p>
      </dgm:t>
    </dgm:pt>
    <dgm:pt modelId="{B65704CC-112B-F84F-AECE-07B1283B455A}">
      <dgm:prSet custT="1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IN" sz="1600" b="1" dirty="0"/>
            <a:t>Strategically use</a:t>
          </a:r>
          <a:r>
            <a:rPr lang="en-IN" sz="1600" b="0" dirty="0"/>
            <a:t>:</a:t>
          </a:r>
        </a:p>
      </dgm:t>
    </dgm:pt>
    <dgm:pt modelId="{CFD7D0FD-A0D3-544A-8537-2F53493FD24E}" type="sibTrans" cxnId="{D2BBFC9D-A34F-3F49-85C1-E8E3A0041938}">
      <dgm:prSet/>
      <dgm:spPr/>
      <dgm:t>
        <a:bodyPr/>
        <a:lstStyle/>
        <a:p>
          <a:endParaRPr lang="en-GB"/>
        </a:p>
      </dgm:t>
    </dgm:pt>
    <dgm:pt modelId="{36826B70-DE71-DE4D-A64F-5439B625626B}" type="parTrans" cxnId="{D2BBFC9D-A34F-3F49-85C1-E8E3A0041938}">
      <dgm:prSet/>
      <dgm:spPr/>
      <dgm:t>
        <a:bodyPr/>
        <a:lstStyle/>
        <a:p>
          <a:endParaRPr lang="en-GB"/>
        </a:p>
      </dgm:t>
    </dgm:pt>
    <dgm:pt modelId="{6C588553-56D0-7A4F-AEB3-F997BA81B584}">
      <dgm:prSet custT="1"/>
      <dgm:spPr/>
      <dgm:t>
        <a:bodyPr/>
        <a:lstStyle/>
        <a:p>
          <a:r>
            <a:rPr lang="en-US" sz="1600" dirty="0"/>
            <a:t>personalized outreach, </a:t>
          </a:r>
          <a:endParaRPr lang="en-IN" sz="1600" b="0" dirty="0"/>
        </a:p>
      </dgm:t>
    </dgm:pt>
    <dgm:pt modelId="{81E70405-0594-5441-96D1-23314A243DBC}" type="sibTrans" cxnId="{680FFC6B-48B3-5B46-9266-2D251456179E}">
      <dgm:prSet/>
      <dgm:spPr/>
      <dgm:t>
        <a:bodyPr/>
        <a:lstStyle/>
        <a:p>
          <a:endParaRPr lang="en-GB"/>
        </a:p>
      </dgm:t>
    </dgm:pt>
    <dgm:pt modelId="{7F8D3378-3DF8-D34B-A126-128D16A9649B}" type="parTrans" cxnId="{680FFC6B-48B3-5B46-9266-2D251456179E}">
      <dgm:prSet/>
      <dgm:spPr/>
      <dgm:t>
        <a:bodyPr/>
        <a:lstStyle/>
        <a:p>
          <a:endParaRPr lang="en-GB"/>
        </a:p>
      </dgm:t>
    </dgm:pt>
    <dgm:pt modelId="{250C44DF-80B2-5246-BB95-D7C1DD276490}">
      <dgm:prSet custT="1"/>
      <dgm:spPr/>
      <dgm:t>
        <a:bodyPr/>
        <a:lstStyle/>
        <a:p>
          <a:r>
            <a:rPr lang="en-IN" sz="1600" b="1" dirty="0"/>
            <a:t>A/B test</a:t>
          </a:r>
          <a:r>
            <a:rPr lang="en-IN" sz="1600" dirty="0"/>
            <a:t> messaging in low-performing but large segments</a:t>
          </a:r>
        </a:p>
      </dgm:t>
    </dgm:pt>
    <dgm:pt modelId="{C6734B8A-85A6-0640-8BE5-E5FF5D8F5322}" type="parTrans" cxnId="{5C95D563-DE87-3947-9BE5-968A567A1FE2}">
      <dgm:prSet/>
      <dgm:spPr/>
      <dgm:t>
        <a:bodyPr/>
        <a:lstStyle/>
        <a:p>
          <a:endParaRPr lang="en-GB"/>
        </a:p>
      </dgm:t>
    </dgm:pt>
    <dgm:pt modelId="{419C8756-F933-6040-BEB4-97466520F00D}" type="sibTrans" cxnId="{5C95D563-DE87-3947-9BE5-968A567A1FE2}">
      <dgm:prSet/>
      <dgm:spPr/>
      <dgm:t>
        <a:bodyPr/>
        <a:lstStyle/>
        <a:p>
          <a:endParaRPr lang="en-GB"/>
        </a:p>
      </dgm:t>
    </dgm:pt>
    <dgm:pt modelId="{902A2503-8517-364D-9578-A231F91972F0}">
      <dgm:prSet phldrT="[Text]" custT="1"/>
      <dgm:spPr/>
      <dgm:t>
        <a:bodyPr/>
        <a:lstStyle/>
        <a:p>
          <a:r>
            <a:rPr lang="en-IN" sz="1600" dirty="0"/>
            <a:t>Reframe short calls to focus on objections and schedule follow-ups</a:t>
          </a:r>
          <a:endParaRPr lang="en-GB" sz="1600" dirty="0"/>
        </a:p>
      </dgm:t>
    </dgm:pt>
    <dgm:pt modelId="{704169F9-7F86-3244-AF20-8128300C1AA7}" type="parTrans" cxnId="{1F76CB50-2D3F-1341-B624-AE17D4A22B05}">
      <dgm:prSet/>
      <dgm:spPr/>
      <dgm:t>
        <a:bodyPr/>
        <a:lstStyle/>
        <a:p>
          <a:endParaRPr lang="en-GB"/>
        </a:p>
      </dgm:t>
    </dgm:pt>
    <dgm:pt modelId="{5143BB74-4CAD-0641-8632-CA4378D45389}" type="sibTrans" cxnId="{1F76CB50-2D3F-1341-B624-AE17D4A22B05}">
      <dgm:prSet/>
      <dgm:spPr/>
      <dgm:t>
        <a:bodyPr/>
        <a:lstStyle/>
        <a:p>
          <a:endParaRPr lang="en-GB"/>
        </a:p>
      </dgm:t>
    </dgm:pt>
    <dgm:pt modelId="{6B34EE65-36DE-434B-BC9B-3D44A49BCD24}">
      <dgm:prSet phldrT="[Text]" custT="1"/>
      <dgm:spPr/>
      <dgm:t>
        <a:bodyPr/>
        <a:lstStyle/>
        <a:p>
          <a:r>
            <a:rPr lang="en-IN" sz="1600" dirty="0"/>
            <a:t>Focus on quick rapport-building and clarity of product value</a:t>
          </a:r>
          <a:endParaRPr lang="en-GB" sz="1600" dirty="0"/>
        </a:p>
      </dgm:t>
    </dgm:pt>
    <dgm:pt modelId="{3797F190-0F4C-5642-A1B1-F49F36F64CCF}" type="parTrans" cxnId="{51FC1C89-39D4-0347-9F20-25B69DB36E79}">
      <dgm:prSet/>
      <dgm:spPr/>
      <dgm:t>
        <a:bodyPr/>
        <a:lstStyle/>
        <a:p>
          <a:endParaRPr lang="en-GB"/>
        </a:p>
      </dgm:t>
    </dgm:pt>
    <dgm:pt modelId="{7FCEDCC0-D8C7-2D43-8FA0-6D7914CCEB5D}" type="sibTrans" cxnId="{51FC1C89-39D4-0347-9F20-25B69DB36E79}">
      <dgm:prSet/>
      <dgm:spPr/>
      <dgm:t>
        <a:bodyPr/>
        <a:lstStyle/>
        <a:p>
          <a:endParaRPr lang="en-GB"/>
        </a:p>
      </dgm:t>
    </dgm:pt>
    <dgm:pt modelId="{B0F044A7-CC49-9144-B276-FFF047EC7ED8}">
      <dgm:prSet phldrT="[Text]" custT="1"/>
      <dgm:spPr/>
      <dgm:t>
        <a:bodyPr/>
        <a:lstStyle/>
        <a:p>
          <a:r>
            <a:rPr lang="en-IN" sz="1600" b="1" dirty="0"/>
            <a:t>Test new scripts </a:t>
          </a:r>
          <a:r>
            <a:rPr lang="en-IN" sz="1600" dirty="0"/>
            <a:t>in borderline segments to unlock untapped potential (E.g.: Blue-collar workers)</a:t>
          </a:r>
          <a:endParaRPr lang="en-GB" sz="1600" dirty="0"/>
        </a:p>
      </dgm:t>
    </dgm:pt>
    <dgm:pt modelId="{20558E19-0DD5-244C-AD9A-CCC895B40574}" type="parTrans" cxnId="{9770B997-61A3-1A4A-A86C-C657DEDD5C59}">
      <dgm:prSet/>
      <dgm:spPr/>
      <dgm:t>
        <a:bodyPr/>
        <a:lstStyle/>
        <a:p>
          <a:endParaRPr lang="en-GB"/>
        </a:p>
      </dgm:t>
    </dgm:pt>
    <dgm:pt modelId="{72F7540B-C9D1-3646-AE5D-D33A26463C25}" type="sibTrans" cxnId="{9770B997-61A3-1A4A-A86C-C657DEDD5C59}">
      <dgm:prSet/>
      <dgm:spPr/>
      <dgm:t>
        <a:bodyPr/>
        <a:lstStyle/>
        <a:p>
          <a:endParaRPr lang="en-GB"/>
        </a:p>
      </dgm:t>
    </dgm:pt>
    <dgm:pt modelId="{7BED4D02-8022-1E47-9A05-D2353BBBBC94}">
      <dgm:prSet phldrT="[Text]" custT="1"/>
      <dgm:spPr/>
      <dgm:t>
        <a:bodyPr/>
        <a:lstStyle/>
        <a:p>
          <a:endParaRPr lang="en-GB" sz="1600" dirty="0"/>
        </a:p>
      </dgm:t>
    </dgm:pt>
    <dgm:pt modelId="{AE60B98A-2313-3846-9A8C-5FE2D9B80012}" type="parTrans" cxnId="{90D5A451-370C-AB4B-8FA7-09EB4BFC53B9}">
      <dgm:prSet/>
      <dgm:spPr/>
      <dgm:t>
        <a:bodyPr/>
        <a:lstStyle/>
        <a:p>
          <a:endParaRPr lang="en-GB"/>
        </a:p>
      </dgm:t>
    </dgm:pt>
    <dgm:pt modelId="{8158DB19-DBB6-D247-8488-9B627BA33334}" type="sibTrans" cxnId="{90D5A451-370C-AB4B-8FA7-09EB4BFC53B9}">
      <dgm:prSet/>
      <dgm:spPr/>
      <dgm:t>
        <a:bodyPr/>
        <a:lstStyle/>
        <a:p>
          <a:endParaRPr lang="en-GB"/>
        </a:p>
      </dgm:t>
    </dgm:pt>
    <dgm:pt modelId="{9491BB68-BDC9-EC41-A919-718E83D99E4D}">
      <dgm:prSet phldrT="[Text]" custT="1"/>
      <dgm:spPr/>
      <dgm:t>
        <a:bodyPr/>
        <a:lstStyle/>
        <a:p>
          <a:endParaRPr lang="en-GB" sz="1600" dirty="0"/>
        </a:p>
      </dgm:t>
    </dgm:pt>
    <dgm:pt modelId="{6A0141CD-EEEA-FD4C-A0D1-3937C1E355D1}" type="parTrans" cxnId="{3FB91D76-9DAF-1645-BCF4-2D21FB378302}">
      <dgm:prSet/>
      <dgm:spPr/>
      <dgm:t>
        <a:bodyPr/>
        <a:lstStyle/>
        <a:p>
          <a:endParaRPr lang="en-GB"/>
        </a:p>
      </dgm:t>
    </dgm:pt>
    <dgm:pt modelId="{FAAA7EC2-C646-3541-9E7F-00582BE87CE9}" type="sibTrans" cxnId="{3FB91D76-9DAF-1645-BCF4-2D21FB378302}">
      <dgm:prSet/>
      <dgm:spPr/>
      <dgm:t>
        <a:bodyPr/>
        <a:lstStyle/>
        <a:p>
          <a:endParaRPr lang="en-GB"/>
        </a:p>
      </dgm:t>
    </dgm:pt>
    <dgm:pt modelId="{999FBC1F-20F6-0146-88D4-5641932916B6}">
      <dgm:prSet custT="1"/>
      <dgm:spPr/>
      <dgm:t>
        <a:bodyPr/>
        <a:lstStyle/>
        <a:p>
          <a:r>
            <a:rPr lang="en-IN" sz="1600" dirty="0"/>
            <a:t>Offer </a:t>
          </a:r>
          <a:r>
            <a:rPr lang="en-IN" sz="1600" b="1" dirty="0"/>
            <a:t>loan-linked products </a:t>
          </a:r>
          <a:r>
            <a:rPr lang="en-IN" sz="1600" dirty="0"/>
            <a:t>for better returns to borrowers</a:t>
          </a:r>
        </a:p>
      </dgm:t>
    </dgm:pt>
    <dgm:pt modelId="{79BF9214-A108-0F40-A131-30C566690306}" type="sibTrans" cxnId="{C13E85A6-FE5C-554C-8E12-456D61DF117A}">
      <dgm:prSet/>
      <dgm:spPr/>
      <dgm:t>
        <a:bodyPr/>
        <a:lstStyle/>
        <a:p>
          <a:endParaRPr lang="en-GB"/>
        </a:p>
      </dgm:t>
    </dgm:pt>
    <dgm:pt modelId="{B6EA7935-7EFD-A44E-B72C-52BD19898530}" type="parTrans" cxnId="{C13E85A6-FE5C-554C-8E12-456D61DF117A}">
      <dgm:prSet/>
      <dgm:spPr/>
      <dgm:t>
        <a:bodyPr/>
        <a:lstStyle/>
        <a:p>
          <a:endParaRPr lang="en-GB"/>
        </a:p>
      </dgm:t>
    </dgm:pt>
    <dgm:pt modelId="{AA82D7DD-C6C0-744E-8FF1-D793E5A42555}">
      <dgm:prSet custT="1"/>
      <dgm:spPr/>
      <dgm:t>
        <a:bodyPr/>
        <a:lstStyle/>
        <a:p>
          <a:r>
            <a:rPr lang="en-IN" sz="1600" dirty="0"/>
            <a:t>Promote </a:t>
          </a:r>
          <a:r>
            <a:rPr lang="en-IN" sz="1600" b="1" dirty="0"/>
            <a:t>tax-saving </a:t>
          </a:r>
          <a:r>
            <a:rPr lang="en-IN" sz="1600" dirty="0"/>
            <a:t>deposit schemes</a:t>
          </a:r>
        </a:p>
      </dgm:t>
    </dgm:pt>
    <dgm:pt modelId="{5AE36A04-2A2E-E94B-A11D-8B410697EFF5}" type="sibTrans" cxnId="{DD77EBEF-4F34-D341-9C5C-28962408D903}">
      <dgm:prSet/>
      <dgm:spPr/>
      <dgm:t>
        <a:bodyPr/>
        <a:lstStyle/>
        <a:p>
          <a:endParaRPr lang="en-GB"/>
        </a:p>
      </dgm:t>
    </dgm:pt>
    <dgm:pt modelId="{2473EE1D-0CC7-0342-A360-21421744BE76}" type="parTrans" cxnId="{DD77EBEF-4F34-D341-9C5C-28962408D903}">
      <dgm:prSet/>
      <dgm:spPr/>
      <dgm:t>
        <a:bodyPr/>
        <a:lstStyle/>
        <a:p>
          <a:endParaRPr lang="en-GB"/>
        </a:p>
      </dgm:t>
    </dgm:pt>
    <dgm:pt modelId="{9392BE71-F6BF-CB4A-97B0-36616D694FA5}">
      <dgm:prSet custT="1"/>
      <dgm:spPr/>
      <dgm:t>
        <a:bodyPr/>
        <a:lstStyle/>
        <a:p>
          <a:r>
            <a:rPr lang="en-IN" sz="1600" dirty="0"/>
            <a:t>Encourage </a:t>
          </a:r>
          <a:r>
            <a:rPr lang="en-IN" sz="1600" b="1" dirty="0"/>
            <a:t>micro-savings</a:t>
          </a:r>
          <a:r>
            <a:rPr lang="en-IN" sz="1600" dirty="0"/>
            <a:t> via digital salary-linked tools</a:t>
          </a:r>
        </a:p>
      </dgm:t>
    </dgm:pt>
    <dgm:pt modelId="{48697628-BB1D-F848-BAC9-B4508D7CC7C5}" type="sibTrans" cxnId="{2FE13933-A70D-8F42-BE3C-775FDDCB6A3C}">
      <dgm:prSet/>
      <dgm:spPr/>
      <dgm:t>
        <a:bodyPr/>
        <a:lstStyle/>
        <a:p>
          <a:endParaRPr lang="en-GB"/>
        </a:p>
      </dgm:t>
    </dgm:pt>
    <dgm:pt modelId="{CC710542-7DBC-A44A-B500-1587236FBE92}" type="parTrans" cxnId="{2FE13933-A70D-8F42-BE3C-775FDDCB6A3C}">
      <dgm:prSet/>
      <dgm:spPr/>
      <dgm:t>
        <a:bodyPr/>
        <a:lstStyle/>
        <a:p>
          <a:endParaRPr lang="en-GB"/>
        </a:p>
      </dgm:t>
    </dgm:pt>
    <dgm:pt modelId="{C6B0AE5F-5EB6-6445-8E49-DF5FF6DFE26F}">
      <dgm:prSet custT="1"/>
      <dgm:spPr/>
      <dgm:t>
        <a:bodyPr/>
        <a:lstStyle/>
        <a:p>
          <a:r>
            <a:rPr lang="en-IN" sz="1600" dirty="0"/>
            <a:t>Frame </a:t>
          </a:r>
          <a:r>
            <a:rPr lang="en-IN" sz="1600" b="1" dirty="0"/>
            <a:t>campaigns around life goals </a:t>
          </a:r>
          <a:r>
            <a:rPr lang="en-IN" sz="1600" dirty="0"/>
            <a:t>and milestones</a:t>
          </a:r>
        </a:p>
      </dgm:t>
    </dgm:pt>
    <dgm:pt modelId="{F7FBAC9A-7C20-264E-9034-101F76520ED4}" type="sibTrans" cxnId="{815164FC-9DD7-884D-9E14-A9D1F6DBE416}">
      <dgm:prSet/>
      <dgm:spPr/>
      <dgm:t>
        <a:bodyPr/>
        <a:lstStyle/>
        <a:p>
          <a:endParaRPr lang="en-GB"/>
        </a:p>
      </dgm:t>
    </dgm:pt>
    <dgm:pt modelId="{86283144-DEFA-954F-9602-7EA27E247862}" type="parTrans" cxnId="{815164FC-9DD7-884D-9E14-A9D1F6DBE416}">
      <dgm:prSet/>
      <dgm:spPr/>
      <dgm:t>
        <a:bodyPr/>
        <a:lstStyle/>
        <a:p>
          <a:endParaRPr lang="en-GB"/>
        </a:p>
      </dgm:t>
    </dgm:pt>
    <dgm:pt modelId="{9876CDEF-78DA-FC46-9301-B68078354266}">
      <dgm:prSet phldrT="[Text]" custT="1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IN" sz="1600" b="0" i="0" u="none" dirty="0"/>
            <a:t>Segment represents over </a:t>
          </a:r>
          <a:r>
            <a:rPr lang="en-IN" sz="1600" b="1" i="0" u="none" dirty="0"/>
            <a:t>60% of contacts</a:t>
          </a:r>
          <a:r>
            <a:rPr lang="en-IN" sz="1600" b="0" i="0" u="none" dirty="0"/>
            <a:t> but shows low conversion</a:t>
          </a:r>
          <a:endParaRPr lang="en-GB" sz="1600" dirty="0"/>
        </a:p>
      </dgm:t>
    </dgm:pt>
    <dgm:pt modelId="{CDD22AE6-E045-624D-ACC4-DE135C983AB1}" type="parTrans" cxnId="{93718F55-EE43-8242-8945-15BD1164CFE7}">
      <dgm:prSet/>
      <dgm:spPr/>
      <dgm:t>
        <a:bodyPr/>
        <a:lstStyle/>
        <a:p>
          <a:endParaRPr lang="en-GB"/>
        </a:p>
      </dgm:t>
    </dgm:pt>
    <dgm:pt modelId="{168545F8-53BE-F346-892C-6885E8F5B58F}" type="sibTrans" cxnId="{93718F55-EE43-8242-8945-15BD1164CFE7}">
      <dgm:prSet/>
      <dgm:spPr/>
      <dgm:t>
        <a:bodyPr/>
        <a:lstStyle/>
        <a:p>
          <a:endParaRPr lang="en-GB"/>
        </a:p>
      </dgm:t>
    </dgm:pt>
    <dgm:pt modelId="{E65327CB-C0DE-4A4B-B5E9-BBA8F3208C05}">
      <dgm:prSet phldrT="[Text]" custT="1"/>
      <dgm:spPr/>
      <dgm:t>
        <a:bodyPr/>
        <a:lstStyle/>
        <a:p>
          <a:endParaRPr lang="en-GB" sz="1600" dirty="0"/>
        </a:p>
      </dgm:t>
    </dgm:pt>
    <dgm:pt modelId="{D1D832FF-5720-544F-BFF8-A627139A31CB}" type="parTrans" cxnId="{DBE24DC2-9C0A-504B-ADAA-D6C9D6928700}">
      <dgm:prSet/>
      <dgm:spPr/>
      <dgm:t>
        <a:bodyPr/>
        <a:lstStyle/>
        <a:p>
          <a:endParaRPr lang="en-GB"/>
        </a:p>
      </dgm:t>
    </dgm:pt>
    <dgm:pt modelId="{FC34DDD7-F013-4042-B32E-83979CAA2F37}" type="sibTrans" cxnId="{DBE24DC2-9C0A-504B-ADAA-D6C9D6928700}">
      <dgm:prSet/>
      <dgm:spPr/>
      <dgm:t>
        <a:bodyPr/>
        <a:lstStyle/>
        <a:p>
          <a:endParaRPr lang="en-GB"/>
        </a:p>
      </dgm:t>
    </dgm:pt>
    <dgm:pt modelId="{A4241A04-DBF5-214A-8E48-C0551D921163}" type="pres">
      <dgm:prSet presAssocID="{7C0E192C-F035-4B40-BA85-AC2E2812EE45}" presName="Name0" presStyleCnt="0">
        <dgm:presLayoutVars>
          <dgm:dir/>
          <dgm:animLvl val="lvl"/>
          <dgm:resizeHandles val="exact"/>
        </dgm:presLayoutVars>
      </dgm:prSet>
      <dgm:spPr/>
    </dgm:pt>
    <dgm:pt modelId="{7C4DD66D-3061-A947-BCCE-BBF0D30722F0}" type="pres">
      <dgm:prSet presAssocID="{2C9A1F18-0812-FC42-A5E7-B2297A774211}" presName="composite" presStyleCnt="0"/>
      <dgm:spPr/>
    </dgm:pt>
    <dgm:pt modelId="{84D90640-313C-7F4B-A790-A0ACB62F9B23}" type="pres">
      <dgm:prSet presAssocID="{2C9A1F18-0812-FC42-A5E7-B2297A77421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539C3BA-B16A-8646-9862-9982251673B5}" type="pres">
      <dgm:prSet presAssocID="{2C9A1F18-0812-FC42-A5E7-B2297A774211}" presName="desTx" presStyleLbl="alignAccFollowNode1" presStyleIdx="0" presStyleCnt="3" custLinFactNeighborX="-3127" custLinFactNeighborY="352">
        <dgm:presLayoutVars>
          <dgm:bulletEnabled val="1"/>
        </dgm:presLayoutVars>
      </dgm:prSet>
      <dgm:spPr/>
    </dgm:pt>
    <dgm:pt modelId="{80EAE9C2-E234-7241-8BE5-7A1F01E0F3D6}" type="pres">
      <dgm:prSet presAssocID="{2224E24C-D8A3-B24B-8278-5DA94E1347E8}" presName="space" presStyleCnt="0"/>
      <dgm:spPr/>
    </dgm:pt>
    <dgm:pt modelId="{0E885D62-F830-254F-AA87-29B272BCEFF2}" type="pres">
      <dgm:prSet presAssocID="{25450A5A-2015-1C44-9BD6-A56F9D5C01D9}" presName="composite" presStyleCnt="0"/>
      <dgm:spPr/>
    </dgm:pt>
    <dgm:pt modelId="{5C243DC7-CDB1-AB4F-AE1C-C78FAB75EAB3}" type="pres">
      <dgm:prSet presAssocID="{25450A5A-2015-1C44-9BD6-A56F9D5C01D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6815EA5-FCE5-A24E-8AC7-D15493E72EA9}" type="pres">
      <dgm:prSet presAssocID="{25450A5A-2015-1C44-9BD6-A56F9D5C01D9}" presName="desTx" presStyleLbl="alignAccFollowNode1" presStyleIdx="1" presStyleCnt="3">
        <dgm:presLayoutVars>
          <dgm:bulletEnabled val="1"/>
        </dgm:presLayoutVars>
      </dgm:prSet>
      <dgm:spPr/>
    </dgm:pt>
    <dgm:pt modelId="{796637E3-8B29-BE4F-9DFD-55444F849894}" type="pres">
      <dgm:prSet presAssocID="{77CE7428-7402-DB46-968A-A9C0C8572B53}" presName="space" presStyleCnt="0"/>
      <dgm:spPr/>
    </dgm:pt>
    <dgm:pt modelId="{491A0383-EB5C-154C-B613-B9328063C2C3}" type="pres">
      <dgm:prSet presAssocID="{FA9FB8D3-3480-2944-8BBB-AD97E550E111}" presName="composite" presStyleCnt="0"/>
      <dgm:spPr/>
    </dgm:pt>
    <dgm:pt modelId="{3A4C4E7D-E255-AE45-96F7-940063975F73}" type="pres">
      <dgm:prSet presAssocID="{FA9FB8D3-3480-2944-8BBB-AD97E550E11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BF98ABA-1F58-B94C-82F1-F3054524DB14}" type="pres">
      <dgm:prSet presAssocID="{FA9FB8D3-3480-2944-8BBB-AD97E550E11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CCEAB01-0711-B846-84E6-0741B5C2FCC9}" srcId="{45D5A5D1-E9CB-8D44-BAD6-31BADD9021E0}" destId="{0AA77B43-F4F1-BE46-AACF-D89EFEBDE9E9}" srcOrd="3" destOrd="0" parTransId="{D09AD9FF-D86B-BA41-8FE2-8D182A74CAC2}" sibTransId="{4ACEC26B-13CD-AE4E-B3C4-D8155F53FB31}"/>
    <dgm:cxn modelId="{08FC9904-E590-E141-B905-6808916695B4}" type="presOf" srcId="{9CB4C021-7658-994D-8FEA-C24EF01E5F87}" destId="{1BF98ABA-1F58-B94C-82F1-F3054524DB14}" srcOrd="0" destOrd="2" presId="urn:microsoft.com/office/officeart/2005/8/layout/hList1"/>
    <dgm:cxn modelId="{F9D29307-68E8-6B40-A825-E918C4C2D79D}" srcId="{25450A5A-2015-1C44-9BD6-A56F9D5C01D9}" destId="{779BA2B7-229D-0340-AE7A-A71763552354}" srcOrd="0" destOrd="0" parTransId="{BEBC3416-A742-C64B-9E0E-A2D9FEB253AF}" sibTransId="{A0A8F285-17C7-324F-A8A6-89C257F6E85F}"/>
    <dgm:cxn modelId="{7907E20B-01BC-D84C-941B-856F79988A10}" srcId="{45D5A5D1-E9CB-8D44-BAD6-31BADD9021E0}" destId="{1C345942-80A4-D345-A21F-DB2A7CAF32CB}" srcOrd="1" destOrd="0" parTransId="{9EEE6B85-5C1F-2A44-BA12-28FC8DAC3EE6}" sibTransId="{A37C03C8-B7FE-8348-849D-F6CC08C7A7AA}"/>
    <dgm:cxn modelId="{A5B97313-4DBA-5349-8BE4-C8656CF84EDA}" type="presOf" srcId="{DEA5AD8D-9199-F747-B515-D384EF814626}" destId="{6539C3BA-B16A-8646-9862-9982251673B5}" srcOrd="0" destOrd="9" presId="urn:microsoft.com/office/officeart/2005/8/layout/hList1"/>
    <dgm:cxn modelId="{128F4215-7B78-0341-8DBF-49F97360A4E3}" type="presOf" srcId="{6B34EE65-36DE-434B-BC9B-3D44A49BCD24}" destId="{36815EA5-FCE5-A24E-8AC7-D15493E72EA9}" srcOrd="0" destOrd="3" presId="urn:microsoft.com/office/officeart/2005/8/layout/hList1"/>
    <dgm:cxn modelId="{D07B7D1B-4CF1-364C-8B8B-786257135E26}" type="presOf" srcId="{DC3CA0BD-193F-C245-A85F-FABC9D7F9A8F}" destId="{6539C3BA-B16A-8646-9862-9982251673B5}" srcOrd="0" destOrd="1" presId="urn:microsoft.com/office/officeart/2005/8/layout/hList1"/>
    <dgm:cxn modelId="{41928B20-AAD7-7D43-8770-7F22F63ACA5C}" srcId="{7C0E192C-F035-4B40-BA85-AC2E2812EE45}" destId="{25450A5A-2015-1C44-9BD6-A56F9D5C01D9}" srcOrd="1" destOrd="0" parTransId="{AA1FD39D-C6F3-C04D-BB91-7E35F741F33D}" sibTransId="{77CE7428-7402-DB46-968A-A9C0C8572B53}"/>
    <dgm:cxn modelId="{D0B6362D-05F4-8446-B220-2E30EC0C9CFE}" srcId="{45D5A5D1-E9CB-8D44-BAD6-31BADD9021E0}" destId="{DC3CA0BD-193F-C245-A85F-FABC9D7F9A8F}" srcOrd="0" destOrd="0" parTransId="{B44E2069-EBE4-FA4F-9D33-5F38C71F0DF9}" sibTransId="{7815C366-8532-1E40-A953-AEF0852EE832}"/>
    <dgm:cxn modelId="{DF9B882E-4B13-2F44-81C6-ED3F5E9B1027}" type="presOf" srcId="{C6B0AE5F-5EB6-6445-8E49-DF5FF6DFE26F}" destId="{1BF98ABA-1F58-B94C-82F1-F3054524DB14}" srcOrd="0" destOrd="6" presId="urn:microsoft.com/office/officeart/2005/8/layout/hList1"/>
    <dgm:cxn modelId="{2FE13933-A70D-8F42-BE3C-775FDDCB6A3C}" srcId="{FA9FB8D3-3480-2944-8BBB-AD97E550E111}" destId="{9392BE71-F6BF-CB4A-97B0-36616D694FA5}" srcOrd="5" destOrd="0" parTransId="{CC710542-7DBC-A44A-B500-1587236FBE92}" sibTransId="{48697628-BB1D-F848-BAC9-B4508D7CC7C5}"/>
    <dgm:cxn modelId="{B885B534-0278-0B4B-841E-A42F34BCDE16}" srcId="{B65704CC-112B-F84F-AECE-07B1283B455A}" destId="{DEA5AD8D-9199-F747-B515-D384EF814626}" srcOrd="1" destOrd="0" parTransId="{702080DC-F998-9140-97E6-34B14A65D49C}" sibTransId="{F317697E-1683-3B40-9D1B-D1A27406750A}"/>
    <dgm:cxn modelId="{50A7FF3C-D785-E142-ABD2-C947371852A3}" type="presOf" srcId="{0AA77B43-F4F1-BE46-AACF-D89EFEBDE9E9}" destId="{6539C3BA-B16A-8646-9862-9982251673B5}" srcOrd="0" destOrd="4" presId="urn:microsoft.com/office/officeart/2005/8/layout/hList1"/>
    <dgm:cxn modelId="{C0C2ED3D-99DE-7948-9448-6D85B36E1272}" type="presOf" srcId="{B65704CC-112B-F84F-AECE-07B1283B455A}" destId="{6539C3BA-B16A-8646-9862-9982251673B5}" srcOrd="0" destOrd="7" presId="urn:microsoft.com/office/officeart/2005/8/layout/hList1"/>
    <dgm:cxn modelId="{3E99D442-3C91-004F-ADFD-E80AE72B95A7}" type="presOf" srcId="{9876CDEF-78DA-FC46-9301-B68078354266}" destId="{1BF98ABA-1F58-B94C-82F1-F3054524DB14}" srcOrd="0" destOrd="0" presId="urn:microsoft.com/office/officeart/2005/8/layout/hList1"/>
    <dgm:cxn modelId="{4FB8FE44-F14B-2F4B-B0F4-97992EAC7022}" srcId="{2C9A1F18-0812-FC42-A5E7-B2297A774211}" destId="{45D5A5D1-E9CB-8D44-BAD6-31BADD9021E0}" srcOrd="0" destOrd="0" parTransId="{5E1A78F5-84A6-1D4B-9FFA-95478775A9D1}" sibTransId="{2683018A-BE65-B743-A57D-7900C337B944}"/>
    <dgm:cxn modelId="{E985CC48-96EF-E34B-82AF-B28734009C6E}" type="presOf" srcId="{9491BB68-BDC9-EC41-A919-718E83D99E4D}" destId="{36815EA5-FCE5-A24E-8AC7-D15493E72EA9}" srcOrd="0" destOrd="5" presId="urn:microsoft.com/office/officeart/2005/8/layout/hList1"/>
    <dgm:cxn modelId="{CF66F34D-131F-3545-A92D-153EA55C8BF7}" type="presOf" srcId="{902A2503-8517-364D-9578-A231F91972F0}" destId="{36815EA5-FCE5-A24E-8AC7-D15493E72EA9}" srcOrd="0" destOrd="4" presId="urn:microsoft.com/office/officeart/2005/8/layout/hList1"/>
    <dgm:cxn modelId="{1F76CB50-2D3F-1341-B624-AE17D4A22B05}" srcId="{25450A5A-2015-1C44-9BD6-A56F9D5C01D9}" destId="{902A2503-8517-364D-9578-A231F91972F0}" srcOrd="4" destOrd="0" parTransId="{704169F9-7F86-3244-AF20-8128300C1AA7}" sibTransId="{5143BB74-4CAD-0641-8632-CA4378D45389}"/>
    <dgm:cxn modelId="{90D5A451-370C-AB4B-8FA7-09EB4BFC53B9}" srcId="{25450A5A-2015-1C44-9BD6-A56F9D5C01D9}" destId="{7BED4D02-8022-1E47-9A05-D2353BBBBC94}" srcOrd="1" destOrd="0" parTransId="{AE60B98A-2313-3846-9A8C-5FE2D9B80012}" sibTransId="{8158DB19-DBB6-D247-8488-9B627BA33334}"/>
    <dgm:cxn modelId="{93718F55-EE43-8242-8945-15BD1164CFE7}" srcId="{FA9FB8D3-3480-2944-8BBB-AD97E550E111}" destId="{9876CDEF-78DA-FC46-9301-B68078354266}" srcOrd="0" destOrd="0" parTransId="{CDD22AE6-E045-624D-ACC4-DE135C983AB1}" sibTransId="{168545F8-53BE-F346-892C-6885E8F5B58F}"/>
    <dgm:cxn modelId="{E43A955B-797D-634E-BEBC-ABCB3217B24D}" type="presOf" srcId="{7C0E192C-F035-4B40-BA85-AC2E2812EE45}" destId="{A4241A04-DBF5-214A-8E48-C0551D921163}" srcOrd="0" destOrd="0" presId="urn:microsoft.com/office/officeart/2005/8/layout/hList1"/>
    <dgm:cxn modelId="{901A8D5E-F2CD-1C4C-B4C8-B367CBE0AB3B}" srcId="{45D5A5D1-E9CB-8D44-BAD6-31BADD9021E0}" destId="{83E428C0-598C-B144-8C60-237C069D0936}" srcOrd="2" destOrd="0" parTransId="{A5112DB2-A7B4-3449-8420-3E31B25C22AC}" sibTransId="{F5A3E0BE-0EC2-024D-B42A-10585188BD7D}"/>
    <dgm:cxn modelId="{5C95D563-DE87-3947-9BE5-968A567A1FE2}" srcId="{25450A5A-2015-1C44-9BD6-A56F9D5C01D9}" destId="{250C44DF-80B2-5246-BB95-D7C1DD276490}" srcOrd="6" destOrd="0" parTransId="{C6734B8A-85A6-0640-8BE5-E5FF5D8F5322}" sibTransId="{419C8756-F933-6040-BEB4-97466520F00D}"/>
    <dgm:cxn modelId="{EA0F526A-67C8-454E-BB06-DBB612D1C82D}" srcId="{7C0E192C-F035-4B40-BA85-AC2E2812EE45}" destId="{2C9A1F18-0812-FC42-A5E7-B2297A774211}" srcOrd="0" destOrd="0" parTransId="{AE9A8EC2-FBDA-7942-AEB5-48DEFDD1FCE2}" sibTransId="{2224E24C-D8A3-B24B-8278-5DA94E1347E8}"/>
    <dgm:cxn modelId="{1D6EC16B-AB1C-1E4B-BFFC-73938820A49F}" type="presOf" srcId="{779BA2B7-229D-0340-AE7A-A71763552354}" destId="{36815EA5-FCE5-A24E-8AC7-D15493E72EA9}" srcOrd="0" destOrd="0" presId="urn:microsoft.com/office/officeart/2005/8/layout/hList1"/>
    <dgm:cxn modelId="{680FFC6B-48B3-5B46-9266-2D251456179E}" srcId="{B65704CC-112B-F84F-AECE-07B1283B455A}" destId="{6C588553-56D0-7A4F-AEB3-F997BA81B584}" srcOrd="0" destOrd="0" parTransId="{7F8D3378-3DF8-D34B-A126-128D16A9649B}" sibTransId="{81E70405-0594-5441-96D1-23314A243DBC}"/>
    <dgm:cxn modelId="{F8A6916C-F6DA-3B41-9300-1FD33DB10969}" srcId="{2C9A1F18-0812-FC42-A5E7-B2297A774211}" destId="{2B52068A-6D35-3F42-9F1C-70126E698738}" srcOrd="1" destOrd="0" parTransId="{CD1721D9-7601-8B42-908E-2CFB2DC57064}" sibTransId="{E620D2C2-FC00-AD46-AB8A-AAA28EF52638}"/>
    <dgm:cxn modelId="{A0F60D6F-36E5-F74C-97BF-CA0CFC7D378A}" srcId="{7C0E192C-F035-4B40-BA85-AC2E2812EE45}" destId="{FA9FB8D3-3480-2944-8BBB-AD97E550E111}" srcOrd="2" destOrd="0" parTransId="{735CEFAF-F4E5-0F4B-8B64-7F807FCB89DF}" sibTransId="{CCBF4503-D504-5648-88D9-E72A9D1B68B0}"/>
    <dgm:cxn modelId="{3FB91D76-9DAF-1645-BCF4-2D21FB378302}" srcId="{25450A5A-2015-1C44-9BD6-A56F9D5C01D9}" destId="{9491BB68-BDC9-EC41-A919-718E83D99E4D}" srcOrd="5" destOrd="0" parTransId="{6A0141CD-EEEA-FD4C-A0D1-3937C1E355D1}" sibTransId="{FAAA7EC2-C646-3541-9E7F-00582BE87CE9}"/>
    <dgm:cxn modelId="{2988777C-9EB1-734B-AF0B-FDC0E3CCA7BC}" type="presOf" srcId="{7BED4D02-8022-1E47-9A05-D2353BBBBC94}" destId="{36815EA5-FCE5-A24E-8AC7-D15493E72EA9}" srcOrd="0" destOrd="1" presId="urn:microsoft.com/office/officeart/2005/8/layout/hList1"/>
    <dgm:cxn modelId="{6BB3247D-7DEC-9142-87E7-34015E39E93F}" type="presOf" srcId="{AC41F1C5-0528-E04B-99C6-C59437E665E3}" destId="{6539C3BA-B16A-8646-9862-9982251673B5}" srcOrd="0" destOrd="10" presId="urn:microsoft.com/office/officeart/2005/8/layout/hList1"/>
    <dgm:cxn modelId="{51FC1C89-39D4-0347-9F20-25B69DB36E79}" srcId="{25450A5A-2015-1C44-9BD6-A56F9D5C01D9}" destId="{6B34EE65-36DE-434B-BC9B-3D44A49BCD24}" srcOrd="3" destOrd="0" parTransId="{3797F190-0F4C-5642-A1B1-F49F36F64CCF}" sibTransId="{7FCEDCC0-D8C7-2D43-8FA0-6D7914CCEB5D}"/>
    <dgm:cxn modelId="{2779F38B-15A2-564F-8A36-FA287470CB7E}" type="presOf" srcId="{8FB680D4-CAFE-8843-9669-FCD2D0CD841C}" destId="{6539C3BA-B16A-8646-9862-9982251673B5}" srcOrd="0" destOrd="5" presId="urn:microsoft.com/office/officeart/2005/8/layout/hList1"/>
    <dgm:cxn modelId="{90563C8C-3FFE-3943-BFCC-483851A3CBAF}" srcId="{45D5A5D1-E9CB-8D44-BAD6-31BADD9021E0}" destId="{8FB680D4-CAFE-8843-9669-FCD2D0CD841C}" srcOrd="4" destOrd="0" parTransId="{536753F3-AC53-0D41-8915-3028C8212236}" sibTransId="{4C0034E1-F1D4-C941-833F-D95B8E4F4D8A}"/>
    <dgm:cxn modelId="{9770B997-61A3-1A4A-A86C-C657DEDD5C59}" srcId="{25450A5A-2015-1C44-9BD6-A56F9D5C01D9}" destId="{B0F044A7-CC49-9144-B276-FFF047EC7ED8}" srcOrd="2" destOrd="0" parTransId="{20558E19-0DD5-244C-AD9A-CCC895B40574}" sibTransId="{72F7540B-C9D1-3646-AE5D-D33A26463C25}"/>
    <dgm:cxn modelId="{3CC1189A-1D5D-6C47-8863-F9D70FDFB993}" type="presOf" srcId="{2B52068A-6D35-3F42-9F1C-70126E698738}" destId="{6539C3BA-B16A-8646-9862-9982251673B5}" srcOrd="0" destOrd="6" presId="urn:microsoft.com/office/officeart/2005/8/layout/hList1"/>
    <dgm:cxn modelId="{17507B9C-C916-FA4C-8A47-1307C17B0E07}" srcId="{B65704CC-112B-F84F-AECE-07B1283B455A}" destId="{AC41F1C5-0528-E04B-99C6-C59437E665E3}" srcOrd="2" destOrd="0" parTransId="{3432C696-36FC-524C-BDFB-3FADD9D08A1A}" sibTransId="{27A7ED94-B60C-E24D-9FF3-EE39007161C0}"/>
    <dgm:cxn modelId="{D2BBFC9D-A34F-3F49-85C1-E8E3A0041938}" srcId="{2C9A1F18-0812-FC42-A5E7-B2297A774211}" destId="{B65704CC-112B-F84F-AECE-07B1283B455A}" srcOrd="2" destOrd="0" parTransId="{36826B70-DE71-DE4D-A64F-5439B625626B}" sibTransId="{CFD7D0FD-A0D3-544A-8537-2F53493FD24E}"/>
    <dgm:cxn modelId="{356A1DA4-8DA6-4C44-B8A5-07F311F60315}" srcId="{FA9FB8D3-3480-2944-8BBB-AD97E550E111}" destId="{9CB4C021-7658-994D-8FEA-C24EF01E5F87}" srcOrd="2" destOrd="0" parTransId="{451E9D15-4A52-754D-9AC9-AA42A63F260E}" sibTransId="{A5E8B8B5-3652-9B47-A3ED-82E79EF2332D}"/>
    <dgm:cxn modelId="{C13E85A6-FE5C-554C-8E12-456D61DF117A}" srcId="{FA9FB8D3-3480-2944-8BBB-AD97E550E111}" destId="{999FBC1F-20F6-0146-88D4-5641932916B6}" srcOrd="3" destOrd="0" parTransId="{B6EA7935-7EFD-A44E-B72C-52BD19898530}" sibTransId="{79BF9214-A108-0F40-A131-30C566690306}"/>
    <dgm:cxn modelId="{13D446A9-0B10-BE40-BC86-1F98C44C6F43}" type="presOf" srcId="{250C44DF-80B2-5246-BB95-D7C1DD276490}" destId="{36815EA5-FCE5-A24E-8AC7-D15493E72EA9}" srcOrd="0" destOrd="6" presId="urn:microsoft.com/office/officeart/2005/8/layout/hList1"/>
    <dgm:cxn modelId="{63EFA3B1-BDC7-6541-894C-DC03EA422D48}" type="presOf" srcId="{999FBC1F-20F6-0146-88D4-5641932916B6}" destId="{1BF98ABA-1F58-B94C-82F1-F3054524DB14}" srcOrd="0" destOrd="3" presId="urn:microsoft.com/office/officeart/2005/8/layout/hList1"/>
    <dgm:cxn modelId="{6746E8B2-15B1-6645-AB5C-8506FDCA8107}" type="presOf" srcId="{45D5A5D1-E9CB-8D44-BAD6-31BADD9021E0}" destId="{6539C3BA-B16A-8646-9862-9982251673B5}" srcOrd="0" destOrd="0" presId="urn:microsoft.com/office/officeart/2005/8/layout/hList1"/>
    <dgm:cxn modelId="{E2DB83B3-BE9C-A84E-8F6F-A6CAEC7EC5E1}" type="presOf" srcId="{9392BE71-F6BF-CB4A-97B0-36616D694FA5}" destId="{1BF98ABA-1F58-B94C-82F1-F3054524DB14}" srcOrd="0" destOrd="5" presId="urn:microsoft.com/office/officeart/2005/8/layout/hList1"/>
    <dgm:cxn modelId="{BA91C9B5-7E5A-E047-A97C-E4D8093C8A16}" type="presOf" srcId="{2C9A1F18-0812-FC42-A5E7-B2297A774211}" destId="{84D90640-313C-7F4B-A790-A0ACB62F9B23}" srcOrd="0" destOrd="0" presId="urn:microsoft.com/office/officeart/2005/8/layout/hList1"/>
    <dgm:cxn modelId="{F4B051B9-6C48-3849-BC68-83AD3EADF056}" type="presOf" srcId="{AA82D7DD-C6C0-744E-8FF1-D793E5A42555}" destId="{1BF98ABA-1F58-B94C-82F1-F3054524DB14}" srcOrd="0" destOrd="4" presId="urn:microsoft.com/office/officeart/2005/8/layout/hList1"/>
    <dgm:cxn modelId="{EA0D8FC1-BE1F-C645-8F1E-5E1B2FAA3225}" type="presOf" srcId="{25450A5A-2015-1C44-9BD6-A56F9D5C01D9}" destId="{5C243DC7-CDB1-AB4F-AE1C-C78FAB75EAB3}" srcOrd="0" destOrd="0" presId="urn:microsoft.com/office/officeart/2005/8/layout/hList1"/>
    <dgm:cxn modelId="{DBE24DC2-9C0A-504B-ADAA-D6C9D6928700}" srcId="{FA9FB8D3-3480-2944-8BBB-AD97E550E111}" destId="{E65327CB-C0DE-4A4B-B5E9-BBA8F3208C05}" srcOrd="1" destOrd="0" parTransId="{D1D832FF-5720-544F-BFF8-A627139A31CB}" sibTransId="{FC34DDD7-F013-4042-B32E-83979CAA2F37}"/>
    <dgm:cxn modelId="{DC7E44C5-FB14-054B-8540-0B4C0B8109D7}" type="presOf" srcId="{E65327CB-C0DE-4A4B-B5E9-BBA8F3208C05}" destId="{1BF98ABA-1F58-B94C-82F1-F3054524DB14}" srcOrd="0" destOrd="1" presId="urn:microsoft.com/office/officeart/2005/8/layout/hList1"/>
    <dgm:cxn modelId="{6EB79CC8-5231-F149-94E9-AD4E89627C37}" type="presOf" srcId="{B0F044A7-CC49-9144-B276-FFF047EC7ED8}" destId="{36815EA5-FCE5-A24E-8AC7-D15493E72EA9}" srcOrd="0" destOrd="2" presId="urn:microsoft.com/office/officeart/2005/8/layout/hList1"/>
    <dgm:cxn modelId="{3B90F9DA-C99D-2C47-8991-50EE5BBE029E}" type="presOf" srcId="{1C345942-80A4-D345-A21F-DB2A7CAF32CB}" destId="{6539C3BA-B16A-8646-9862-9982251673B5}" srcOrd="0" destOrd="2" presId="urn:microsoft.com/office/officeart/2005/8/layout/hList1"/>
    <dgm:cxn modelId="{2B888AE9-B303-1640-9D24-706905CFF78D}" type="presOf" srcId="{FA9FB8D3-3480-2944-8BBB-AD97E550E111}" destId="{3A4C4E7D-E255-AE45-96F7-940063975F73}" srcOrd="0" destOrd="0" presId="urn:microsoft.com/office/officeart/2005/8/layout/hList1"/>
    <dgm:cxn modelId="{DD77EBEF-4F34-D341-9C5C-28962408D903}" srcId="{FA9FB8D3-3480-2944-8BBB-AD97E550E111}" destId="{AA82D7DD-C6C0-744E-8FF1-D793E5A42555}" srcOrd="4" destOrd="0" parTransId="{2473EE1D-0CC7-0342-A360-21421744BE76}" sibTransId="{5AE36A04-2A2E-E94B-A11D-8B410697EFF5}"/>
    <dgm:cxn modelId="{94CC16FA-F3D5-E746-9E7A-B3885055BDF9}" type="presOf" srcId="{6C588553-56D0-7A4F-AEB3-F997BA81B584}" destId="{6539C3BA-B16A-8646-9862-9982251673B5}" srcOrd="0" destOrd="8" presId="urn:microsoft.com/office/officeart/2005/8/layout/hList1"/>
    <dgm:cxn modelId="{815164FC-9DD7-884D-9E14-A9D1F6DBE416}" srcId="{FA9FB8D3-3480-2944-8BBB-AD97E550E111}" destId="{C6B0AE5F-5EB6-6445-8E49-DF5FF6DFE26F}" srcOrd="6" destOrd="0" parTransId="{86283144-DEFA-954F-9602-7EA27E247862}" sibTransId="{F7FBAC9A-7C20-264E-9034-101F76520ED4}"/>
    <dgm:cxn modelId="{43E3C6FD-FD40-B642-91AF-99C3623971E0}" type="presOf" srcId="{83E428C0-598C-B144-8C60-237C069D0936}" destId="{6539C3BA-B16A-8646-9862-9982251673B5}" srcOrd="0" destOrd="3" presId="urn:microsoft.com/office/officeart/2005/8/layout/hList1"/>
    <dgm:cxn modelId="{FD9E937F-1208-644A-AAA6-28600FF54E65}" type="presParOf" srcId="{A4241A04-DBF5-214A-8E48-C0551D921163}" destId="{7C4DD66D-3061-A947-BCCE-BBF0D30722F0}" srcOrd="0" destOrd="0" presId="urn:microsoft.com/office/officeart/2005/8/layout/hList1"/>
    <dgm:cxn modelId="{09B09CB2-00DC-8B40-8478-9400515C9180}" type="presParOf" srcId="{7C4DD66D-3061-A947-BCCE-BBF0D30722F0}" destId="{84D90640-313C-7F4B-A790-A0ACB62F9B23}" srcOrd="0" destOrd="0" presId="urn:microsoft.com/office/officeart/2005/8/layout/hList1"/>
    <dgm:cxn modelId="{CC8A7E25-AE79-8E44-A567-2F75561EC8DC}" type="presParOf" srcId="{7C4DD66D-3061-A947-BCCE-BBF0D30722F0}" destId="{6539C3BA-B16A-8646-9862-9982251673B5}" srcOrd="1" destOrd="0" presId="urn:microsoft.com/office/officeart/2005/8/layout/hList1"/>
    <dgm:cxn modelId="{099F2D23-357F-DC4E-A0AD-1847EFAE8D78}" type="presParOf" srcId="{A4241A04-DBF5-214A-8E48-C0551D921163}" destId="{80EAE9C2-E234-7241-8BE5-7A1F01E0F3D6}" srcOrd="1" destOrd="0" presId="urn:microsoft.com/office/officeart/2005/8/layout/hList1"/>
    <dgm:cxn modelId="{433896B2-AC30-9248-AD6C-6D89E4968AC7}" type="presParOf" srcId="{A4241A04-DBF5-214A-8E48-C0551D921163}" destId="{0E885D62-F830-254F-AA87-29B272BCEFF2}" srcOrd="2" destOrd="0" presId="urn:microsoft.com/office/officeart/2005/8/layout/hList1"/>
    <dgm:cxn modelId="{FEF99FE9-5242-7F44-B859-24A87FECBE17}" type="presParOf" srcId="{0E885D62-F830-254F-AA87-29B272BCEFF2}" destId="{5C243DC7-CDB1-AB4F-AE1C-C78FAB75EAB3}" srcOrd="0" destOrd="0" presId="urn:microsoft.com/office/officeart/2005/8/layout/hList1"/>
    <dgm:cxn modelId="{1038E539-A10B-D044-A064-123D65D1BEC2}" type="presParOf" srcId="{0E885D62-F830-254F-AA87-29B272BCEFF2}" destId="{36815EA5-FCE5-A24E-8AC7-D15493E72EA9}" srcOrd="1" destOrd="0" presId="urn:microsoft.com/office/officeart/2005/8/layout/hList1"/>
    <dgm:cxn modelId="{2708E54E-98F6-CE41-9C50-CF2CCC766473}" type="presParOf" srcId="{A4241A04-DBF5-214A-8E48-C0551D921163}" destId="{796637E3-8B29-BE4F-9DFD-55444F849894}" srcOrd="3" destOrd="0" presId="urn:microsoft.com/office/officeart/2005/8/layout/hList1"/>
    <dgm:cxn modelId="{3F99D8D9-8F40-9849-9BC2-300AE6BB82D6}" type="presParOf" srcId="{A4241A04-DBF5-214A-8E48-C0551D921163}" destId="{491A0383-EB5C-154C-B613-B9328063C2C3}" srcOrd="4" destOrd="0" presId="urn:microsoft.com/office/officeart/2005/8/layout/hList1"/>
    <dgm:cxn modelId="{72E7EDFA-15CA-2B43-81DA-A988DEA6A8AB}" type="presParOf" srcId="{491A0383-EB5C-154C-B613-B9328063C2C3}" destId="{3A4C4E7D-E255-AE45-96F7-940063975F73}" srcOrd="0" destOrd="0" presId="urn:microsoft.com/office/officeart/2005/8/layout/hList1"/>
    <dgm:cxn modelId="{33E3D1A3-123C-4D49-8477-CCE6B8EAFDBD}" type="presParOf" srcId="{491A0383-EB5C-154C-B613-B9328063C2C3}" destId="{1BF98ABA-1F58-B94C-82F1-F3054524DB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0E192C-F035-4B40-BA85-AC2E2812EE45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C9A1F18-0812-FC42-A5E7-B2297A774211}">
      <dgm:prSet phldrT="[Text]" custT="1"/>
      <dgm:spPr/>
      <dgm:t>
        <a:bodyPr/>
        <a:lstStyle/>
        <a:p>
          <a:r>
            <a:rPr lang="en-IN" sz="2200" b="0" i="0" u="none" dirty="0"/>
            <a:t>Timing Optimization</a:t>
          </a:r>
          <a:endParaRPr lang="en-GB" sz="2200" dirty="0"/>
        </a:p>
      </dgm:t>
    </dgm:pt>
    <dgm:pt modelId="{AE9A8EC2-FBDA-7942-AEB5-48DEFDD1FCE2}" type="parTrans" cxnId="{EA0F526A-67C8-454E-BB06-DBB612D1C82D}">
      <dgm:prSet/>
      <dgm:spPr/>
      <dgm:t>
        <a:bodyPr/>
        <a:lstStyle/>
        <a:p>
          <a:endParaRPr lang="en-GB"/>
        </a:p>
      </dgm:t>
    </dgm:pt>
    <dgm:pt modelId="{2224E24C-D8A3-B24B-8278-5DA94E1347E8}" type="sibTrans" cxnId="{EA0F526A-67C8-454E-BB06-DBB612D1C82D}">
      <dgm:prSet/>
      <dgm:spPr/>
      <dgm:t>
        <a:bodyPr/>
        <a:lstStyle/>
        <a:p>
          <a:endParaRPr lang="en-GB"/>
        </a:p>
      </dgm:t>
    </dgm:pt>
    <dgm:pt modelId="{45D5A5D1-E9CB-8D44-BAD6-31BADD9021E0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Prioritize </a:t>
          </a:r>
          <a:r>
            <a:rPr lang="en-IN" sz="1600" b="1" dirty="0"/>
            <a:t>March, September, October, December</a:t>
          </a:r>
          <a:r>
            <a:rPr lang="en-IN" sz="1600" dirty="0"/>
            <a:t> — high conversion despite moderate outreach</a:t>
          </a:r>
          <a:endParaRPr lang="en-GB" sz="1600" b="0" dirty="0"/>
        </a:p>
      </dgm:t>
    </dgm:pt>
    <dgm:pt modelId="{5E1A78F5-84A6-1D4B-9FFA-95478775A9D1}" type="parTrans" cxnId="{4FB8FE44-F14B-2F4B-B0F4-97992EAC7022}">
      <dgm:prSet/>
      <dgm:spPr/>
      <dgm:t>
        <a:bodyPr/>
        <a:lstStyle/>
        <a:p>
          <a:endParaRPr lang="en-GB"/>
        </a:p>
      </dgm:t>
    </dgm:pt>
    <dgm:pt modelId="{2683018A-BE65-B743-A57D-7900C337B944}" type="sibTrans" cxnId="{4FB8FE44-F14B-2F4B-B0F4-97992EAC7022}">
      <dgm:prSet/>
      <dgm:spPr/>
      <dgm:t>
        <a:bodyPr/>
        <a:lstStyle/>
        <a:p>
          <a:endParaRPr lang="en-GB"/>
        </a:p>
      </dgm:t>
    </dgm:pt>
    <dgm:pt modelId="{25450A5A-2015-1C44-9BD6-A56F9D5C01D9}">
      <dgm:prSet phldrT="[Text]" custT="1"/>
      <dgm:spPr/>
      <dgm:t>
        <a:bodyPr/>
        <a:lstStyle/>
        <a:p>
          <a:r>
            <a:rPr lang="en-IN" sz="2200" b="0" i="0" u="none" dirty="0"/>
            <a:t>Data Quality Enhancement</a:t>
          </a:r>
          <a:endParaRPr lang="en-GB" sz="2200" b="0" dirty="0"/>
        </a:p>
      </dgm:t>
    </dgm:pt>
    <dgm:pt modelId="{AA1FD39D-C6F3-C04D-BB91-7E35F741F33D}" type="parTrans" cxnId="{41928B20-AAD7-7D43-8770-7F22F63ACA5C}">
      <dgm:prSet/>
      <dgm:spPr/>
      <dgm:t>
        <a:bodyPr/>
        <a:lstStyle/>
        <a:p>
          <a:endParaRPr lang="en-GB"/>
        </a:p>
      </dgm:t>
    </dgm:pt>
    <dgm:pt modelId="{77CE7428-7402-DB46-968A-A9C0C8572B53}" type="sibTrans" cxnId="{41928B20-AAD7-7D43-8770-7F22F63ACA5C}">
      <dgm:prSet/>
      <dgm:spPr/>
      <dgm:t>
        <a:bodyPr/>
        <a:lstStyle/>
        <a:p>
          <a:endParaRPr lang="en-GB"/>
        </a:p>
      </dgm:t>
    </dgm:pt>
    <dgm:pt modelId="{FA9FB8D3-3480-2944-8BBB-AD97E550E111}">
      <dgm:prSet phldrT="[Text]" custT="1"/>
      <dgm:spPr/>
      <dgm:t>
        <a:bodyPr/>
        <a:lstStyle/>
        <a:p>
          <a:r>
            <a:rPr lang="en-IN" sz="2200" b="0" i="0" u="none" dirty="0"/>
            <a:t>Continuous Feedback &amp; Monitoring</a:t>
          </a:r>
          <a:endParaRPr lang="en-GB" sz="2200" b="0" dirty="0"/>
        </a:p>
      </dgm:t>
    </dgm:pt>
    <dgm:pt modelId="{735CEFAF-F4E5-0F4B-8B64-7F807FCB89DF}" type="parTrans" cxnId="{A0F60D6F-36E5-F74C-97BF-CA0CFC7D378A}">
      <dgm:prSet/>
      <dgm:spPr/>
      <dgm:t>
        <a:bodyPr/>
        <a:lstStyle/>
        <a:p>
          <a:endParaRPr lang="en-GB"/>
        </a:p>
      </dgm:t>
    </dgm:pt>
    <dgm:pt modelId="{CCBF4503-D504-5648-88D9-E72A9D1B68B0}" type="sibTrans" cxnId="{A0F60D6F-36E5-F74C-97BF-CA0CFC7D378A}">
      <dgm:prSet/>
      <dgm:spPr/>
      <dgm:t>
        <a:bodyPr/>
        <a:lstStyle/>
        <a:p>
          <a:endParaRPr lang="en-GB"/>
        </a:p>
      </dgm:t>
    </dgm:pt>
    <dgm:pt modelId="{9876CDEF-78DA-FC46-9301-B68078354266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Integrate </a:t>
          </a:r>
          <a:r>
            <a:rPr lang="en-IN" sz="1600" b="1" dirty="0"/>
            <a:t>predictive models into CRM</a:t>
          </a:r>
          <a:r>
            <a:rPr lang="en-IN" sz="1600" dirty="0"/>
            <a:t> to auto-score leads for real-time targeting</a:t>
          </a:r>
          <a:endParaRPr lang="en-GB" sz="1600" dirty="0"/>
        </a:p>
      </dgm:t>
    </dgm:pt>
    <dgm:pt modelId="{CDD22AE6-E045-624D-ACC4-DE135C983AB1}" type="parTrans" cxnId="{93718F55-EE43-8242-8945-15BD1164CFE7}">
      <dgm:prSet/>
      <dgm:spPr/>
      <dgm:t>
        <a:bodyPr/>
        <a:lstStyle/>
        <a:p>
          <a:endParaRPr lang="en-GB"/>
        </a:p>
      </dgm:t>
    </dgm:pt>
    <dgm:pt modelId="{168545F8-53BE-F346-892C-6885E8F5B58F}" type="sibTrans" cxnId="{93718F55-EE43-8242-8945-15BD1164CFE7}">
      <dgm:prSet/>
      <dgm:spPr/>
      <dgm:t>
        <a:bodyPr/>
        <a:lstStyle/>
        <a:p>
          <a:endParaRPr lang="en-GB"/>
        </a:p>
      </dgm:t>
    </dgm:pt>
    <dgm:pt modelId="{47F08434-F729-6543-A07F-30DB16A171A4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Reduce campaigns during </a:t>
          </a:r>
          <a:r>
            <a:rPr lang="en-IN" sz="1600" b="1" dirty="0"/>
            <a:t>May, June, July</a:t>
          </a:r>
          <a:r>
            <a:rPr lang="en-IN" sz="1600" dirty="0"/>
            <a:t> — poor returns despite effort</a:t>
          </a:r>
          <a:endParaRPr lang="en-GB" sz="1600" b="0" dirty="0"/>
        </a:p>
      </dgm:t>
    </dgm:pt>
    <dgm:pt modelId="{198212DD-A57B-974C-AE00-DDA48D46B1CD}" type="parTrans" cxnId="{885D0FD9-C8FF-A440-AD90-64768E6A6602}">
      <dgm:prSet/>
      <dgm:spPr/>
      <dgm:t>
        <a:bodyPr/>
        <a:lstStyle/>
        <a:p>
          <a:endParaRPr lang="en-GB"/>
        </a:p>
      </dgm:t>
    </dgm:pt>
    <dgm:pt modelId="{A6D7C8E3-6BAC-B14A-B5BC-174B677EEE77}" type="sibTrans" cxnId="{885D0FD9-C8FF-A440-AD90-64768E6A6602}">
      <dgm:prSet/>
      <dgm:spPr/>
      <dgm:t>
        <a:bodyPr/>
        <a:lstStyle/>
        <a:p>
          <a:endParaRPr lang="en-GB"/>
        </a:p>
      </dgm:t>
    </dgm:pt>
    <dgm:pt modelId="{CB00E77C-4A64-DB43-9213-2C28E36329C7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Conduct </a:t>
          </a:r>
          <a:r>
            <a:rPr lang="en-IN" sz="1600" b="1" dirty="0"/>
            <a:t>controlled experiments</a:t>
          </a:r>
          <a:r>
            <a:rPr lang="en-IN" sz="1600" dirty="0"/>
            <a:t> in peak months to identify success drivers</a:t>
          </a:r>
          <a:endParaRPr lang="en-GB" sz="1600" b="0" dirty="0"/>
        </a:p>
      </dgm:t>
    </dgm:pt>
    <dgm:pt modelId="{B503BB6D-C494-E642-AC67-3848514D04DC}" type="parTrans" cxnId="{E98E4254-EF12-0647-9B72-9F12DB4C494C}">
      <dgm:prSet/>
      <dgm:spPr/>
      <dgm:t>
        <a:bodyPr/>
        <a:lstStyle/>
        <a:p>
          <a:endParaRPr lang="en-GB"/>
        </a:p>
      </dgm:t>
    </dgm:pt>
    <dgm:pt modelId="{9DA05993-CCC3-E941-AEB6-2ABCF91AC832}" type="sibTrans" cxnId="{E98E4254-EF12-0647-9B72-9F12DB4C494C}">
      <dgm:prSet/>
      <dgm:spPr/>
      <dgm:t>
        <a:bodyPr/>
        <a:lstStyle/>
        <a:p>
          <a:endParaRPr lang="en-GB"/>
        </a:p>
      </dgm:t>
    </dgm:pt>
    <dgm:pt modelId="{1DE812EC-E98F-5F4C-8B99-A6FF49241BBA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Align campaign timing with responsive months to reduce fatigue and improve ROI</a:t>
          </a:r>
          <a:endParaRPr lang="en-GB" sz="1600" b="0" dirty="0"/>
        </a:p>
      </dgm:t>
    </dgm:pt>
    <dgm:pt modelId="{BDD59219-74F0-C547-A30A-4DA25350ACDC}" type="parTrans" cxnId="{AE098EB8-CB5B-C04E-B16D-3B575C7E49C9}">
      <dgm:prSet/>
      <dgm:spPr/>
      <dgm:t>
        <a:bodyPr/>
        <a:lstStyle/>
        <a:p>
          <a:endParaRPr lang="en-GB"/>
        </a:p>
      </dgm:t>
    </dgm:pt>
    <dgm:pt modelId="{77F4ECB2-CCBA-AD4B-9E5A-676EAFD0FED7}" type="sibTrans" cxnId="{AE098EB8-CB5B-C04E-B16D-3B575C7E49C9}">
      <dgm:prSet/>
      <dgm:spPr/>
      <dgm:t>
        <a:bodyPr/>
        <a:lstStyle/>
        <a:p>
          <a:endParaRPr lang="en-GB"/>
        </a:p>
      </dgm:t>
    </dgm:pt>
    <dgm:pt modelId="{410D3DC3-9EA4-2F47-B830-E47F4F4B30E2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b="0" i="0" u="none" dirty="0"/>
            <a:t>Investigate sources of “unknown” data and </a:t>
          </a:r>
          <a:r>
            <a:rPr lang="en-IN" sz="1600" b="1" i="0" u="none" dirty="0"/>
            <a:t>vet</a:t>
          </a:r>
          <a:r>
            <a:rPr lang="en-IN" sz="1600" b="0" i="0" u="none" dirty="0"/>
            <a:t> low-quality acquisition channels</a:t>
          </a:r>
          <a:endParaRPr lang="en-GB" sz="1600" dirty="0"/>
        </a:p>
      </dgm:t>
    </dgm:pt>
    <dgm:pt modelId="{94465A45-8F4E-B443-8ED7-44B6209B9815}" type="parTrans" cxnId="{8D6DD175-71B5-7145-A85D-14AD2E3842C5}">
      <dgm:prSet/>
      <dgm:spPr/>
      <dgm:t>
        <a:bodyPr/>
        <a:lstStyle/>
        <a:p>
          <a:endParaRPr lang="en-GB"/>
        </a:p>
      </dgm:t>
    </dgm:pt>
    <dgm:pt modelId="{DB4837FE-28A2-8749-9B60-E766BB7330E2}" type="sibTrans" cxnId="{8D6DD175-71B5-7145-A85D-14AD2E3842C5}">
      <dgm:prSet/>
      <dgm:spPr/>
      <dgm:t>
        <a:bodyPr/>
        <a:lstStyle/>
        <a:p>
          <a:endParaRPr lang="en-GB"/>
        </a:p>
      </dgm:t>
    </dgm:pt>
    <dgm:pt modelId="{A04FACDA-A2EA-1642-9B2E-7049DB4566B5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b="1" i="0" u="none" dirty="0"/>
            <a:t>Impute or cluster</a:t>
          </a:r>
          <a:r>
            <a:rPr lang="en-IN" sz="1600" b="0" i="0" u="none" dirty="0"/>
            <a:t> “unknown” entries to reclassify them into useful segments</a:t>
          </a:r>
          <a:endParaRPr lang="en-GB" sz="1600" dirty="0"/>
        </a:p>
      </dgm:t>
    </dgm:pt>
    <dgm:pt modelId="{F10DFACC-47AB-594F-BDC9-1E4D764B6FD1}" type="parTrans" cxnId="{BC8C45D3-EEC1-E84D-81CF-373494333A0B}">
      <dgm:prSet/>
      <dgm:spPr/>
      <dgm:t>
        <a:bodyPr/>
        <a:lstStyle/>
        <a:p>
          <a:endParaRPr lang="en-GB"/>
        </a:p>
      </dgm:t>
    </dgm:pt>
    <dgm:pt modelId="{59FC18DC-2A56-6D47-9CB5-005A50AE4C7A}" type="sibTrans" cxnId="{BC8C45D3-EEC1-E84D-81CF-373494333A0B}">
      <dgm:prSet/>
      <dgm:spPr/>
      <dgm:t>
        <a:bodyPr/>
        <a:lstStyle/>
        <a:p>
          <a:endParaRPr lang="en-GB"/>
        </a:p>
      </dgm:t>
    </dgm:pt>
    <dgm:pt modelId="{2A3E750D-2F46-0144-B69F-75A582B03C9A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GB" sz="1600" dirty="0"/>
            <a:t>High proportion of “unknown values” linked to low conversion, so </a:t>
          </a:r>
          <a:r>
            <a:rPr lang="en-IN" sz="1600" b="0" i="0" u="none" dirty="0"/>
            <a:t>Improved data will directly enhance </a:t>
          </a:r>
          <a:r>
            <a:rPr lang="en-IN" sz="1600" b="1" i="0" u="none" dirty="0"/>
            <a:t>model precision</a:t>
          </a:r>
          <a:r>
            <a:rPr lang="en-IN" sz="1600" b="0" i="0" u="none" dirty="0"/>
            <a:t> and targeting</a:t>
          </a:r>
          <a:endParaRPr lang="en-GB" sz="1600" dirty="0"/>
        </a:p>
      </dgm:t>
    </dgm:pt>
    <dgm:pt modelId="{AF35E766-A58A-6B45-B94A-5BC66D51318E}" type="parTrans" cxnId="{12847B39-8017-B942-9B6C-144F0CE8485A}">
      <dgm:prSet/>
      <dgm:spPr/>
      <dgm:t>
        <a:bodyPr/>
        <a:lstStyle/>
        <a:p>
          <a:endParaRPr lang="en-GB"/>
        </a:p>
      </dgm:t>
    </dgm:pt>
    <dgm:pt modelId="{5B31C5A7-7761-3A49-BDDE-77702FF445EF}" type="sibTrans" cxnId="{12847B39-8017-B942-9B6C-144F0CE8485A}">
      <dgm:prSet/>
      <dgm:spPr/>
      <dgm:t>
        <a:bodyPr/>
        <a:lstStyle/>
        <a:p>
          <a:endParaRPr lang="en-GB"/>
        </a:p>
      </dgm:t>
    </dgm:pt>
    <dgm:pt modelId="{7CE01E35-0DAD-A448-AA61-81E782974596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Capture </a:t>
          </a:r>
          <a:r>
            <a:rPr lang="en-IN" sz="1600" b="1" dirty="0"/>
            <a:t>customer feedback &amp; agent insights</a:t>
          </a:r>
          <a:r>
            <a:rPr lang="en-IN" sz="1600" dirty="0"/>
            <a:t> post-call for continuous refinement</a:t>
          </a:r>
          <a:endParaRPr lang="en-GB" sz="1600" dirty="0"/>
        </a:p>
      </dgm:t>
    </dgm:pt>
    <dgm:pt modelId="{2CF5C5FA-4C95-B04F-B0D2-E146B9A2483C}" type="parTrans" cxnId="{10EDB163-CB32-C24A-9A58-AD925723F029}">
      <dgm:prSet/>
      <dgm:spPr/>
      <dgm:t>
        <a:bodyPr/>
        <a:lstStyle/>
        <a:p>
          <a:endParaRPr lang="en-GB"/>
        </a:p>
      </dgm:t>
    </dgm:pt>
    <dgm:pt modelId="{8942A23C-999E-7A41-BA61-BB51C37D4491}" type="sibTrans" cxnId="{10EDB163-CB32-C24A-9A58-AD925723F029}">
      <dgm:prSet/>
      <dgm:spPr/>
      <dgm:t>
        <a:bodyPr/>
        <a:lstStyle/>
        <a:p>
          <a:endParaRPr lang="en-GB"/>
        </a:p>
      </dgm:t>
    </dgm:pt>
    <dgm:pt modelId="{56418493-8DB6-1244-8D92-B02547A8D672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b="1" dirty="0"/>
            <a:t>Track KPIs </a:t>
          </a:r>
          <a:r>
            <a:rPr lang="en-IN" sz="1600" dirty="0"/>
            <a:t>like </a:t>
          </a:r>
          <a:r>
            <a:rPr lang="en-IN" sz="1600" b="0" dirty="0"/>
            <a:t>conversion rate, segment performance, contact-to-conversion ratios</a:t>
          </a:r>
          <a:endParaRPr lang="en-GB" sz="1600" b="0" dirty="0"/>
        </a:p>
      </dgm:t>
    </dgm:pt>
    <dgm:pt modelId="{7DF5B3C5-8A42-2E49-A3CC-C0E44448080D}" type="parTrans" cxnId="{26F90987-F27A-6243-8CDC-192F840B27AA}">
      <dgm:prSet/>
      <dgm:spPr/>
      <dgm:t>
        <a:bodyPr/>
        <a:lstStyle/>
        <a:p>
          <a:endParaRPr lang="en-GB"/>
        </a:p>
      </dgm:t>
    </dgm:pt>
    <dgm:pt modelId="{40CBFFAD-D452-694E-9054-8477484982A7}" type="sibTrans" cxnId="{26F90987-F27A-6243-8CDC-192F840B27AA}">
      <dgm:prSet/>
      <dgm:spPr/>
      <dgm:t>
        <a:bodyPr/>
        <a:lstStyle/>
        <a:p>
          <a:endParaRPr lang="en-GB"/>
        </a:p>
      </dgm:t>
    </dgm:pt>
    <dgm:pt modelId="{537AD1D3-7C52-D04A-B12E-5BA147338693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US" sz="1600" dirty="0"/>
            <a:t>Create a structured process to </a:t>
          </a:r>
          <a:r>
            <a:rPr lang="en-US" sz="1600" b="1" dirty="0"/>
            <a:t>document what worked </a:t>
          </a:r>
          <a:r>
            <a:rPr lang="en-US" sz="1600" b="0" dirty="0"/>
            <a:t>(or </a:t>
          </a:r>
          <a:r>
            <a:rPr lang="en-US" sz="1600" dirty="0"/>
            <a:t>didn’t) in each cycle</a:t>
          </a:r>
          <a:endParaRPr lang="en-GB" sz="1600" b="0" dirty="0"/>
        </a:p>
      </dgm:t>
    </dgm:pt>
    <dgm:pt modelId="{1291EAC6-1518-A64D-A140-E3D6390A721C}" type="parTrans" cxnId="{75A1AFC0-F4A8-2C4D-86F2-0694962457F0}">
      <dgm:prSet/>
      <dgm:spPr/>
      <dgm:t>
        <a:bodyPr/>
        <a:lstStyle/>
        <a:p>
          <a:endParaRPr lang="en-GB"/>
        </a:p>
      </dgm:t>
    </dgm:pt>
    <dgm:pt modelId="{7BBF6EB7-1495-B545-B300-8BB756143F3C}" type="sibTrans" cxnId="{75A1AFC0-F4A8-2C4D-86F2-0694962457F0}">
      <dgm:prSet/>
      <dgm:spPr/>
      <dgm:t>
        <a:bodyPr/>
        <a:lstStyle/>
        <a:p>
          <a:endParaRPr lang="en-GB"/>
        </a:p>
      </dgm:t>
    </dgm:pt>
    <dgm:pt modelId="{779BA2B7-229D-0340-AE7A-A71763552354}">
      <dgm:prSet phldrT="[Text]" custT="1"/>
      <dgm:spPr/>
      <dgm:t>
        <a:bodyPr/>
        <a:lstStyle/>
        <a:p>
          <a:pPr>
            <a:lnSpc>
              <a:spcPct val="100000"/>
            </a:lnSpc>
            <a:buFont typeface="Wingdings" pitchFamily="2" charset="2"/>
            <a:buChar char="§"/>
          </a:pPr>
          <a:r>
            <a:rPr lang="en-IN" sz="1600" dirty="0"/>
            <a:t>Enforce </a:t>
          </a:r>
          <a:r>
            <a:rPr lang="en-IN" sz="1600" b="1" dirty="0"/>
            <a:t>mandatory data capture</a:t>
          </a:r>
          <a:r>
            <a:rPr lang="en-IN" sz="1600" dirty="0"/>
            <a:t> via CRM prompts</a:t>
          </a:r>
          <a:endParaRPr lang="en-GB" sz="1600" dirty="0"/>
        </a:p>
      </dgm:t>
    </dgm:pt>
    <dgm:pt modelId="{A0A8F285-17C7-324F-A8A6-89C257F6E85F}" type="sibTrans" cxnId="{F9D29307-68E8-6B40-A825-E918C4C2D79D}">
      <dgm:prSet/>
      <dgm:spPr/>
      <dgm:t>
        <a:bodyPr/>
        <a:lstStyle/>
        <a:p>
          <a:endParaRPr lang="en-GB"/>
        </a:p>
      </dgm:t>
    </dgm:pt>
    <dgm:pt modelId="{BEBC3416-A742-C64B-9E0E-A2D9FEB253AF}" type="parTrans" cxnId="{F9D29307-68E8-6B40-A825-E918C4C2D79D}">
      <dgm:prSet/>
      <dgm:spPr/>
      <dgm:t>
        <a:bodyPr/>
        <a:lstStyle/>
        <a:p>
          <a:endParaRPr lang="en-GB"/>
        </a:p>
      </dgm:t>
    </dgm:pt>
    <dgm:pt modelId="{A4241A04-DBF5-214A-8E48-C0551D921163}" type="pres">
      <dgm:prSet presAssocID="{7C0E192C-F035-4B40-BA85-AC2E2812EE45}" presName="Name0" presStyleCnt="0">
        <dgm:presLayoutVars>
          <dgm:dir/>
          <dgm:animLvl val="lvl"/>
          <dgm:resizeHandles val="exact"/>
        </dgm:presLayoutVars>
      </dgm:prSet>
      <dgm:spPr/>
    </dgm:pt>
    <dgm:pt modelId="{7C4DD66D-3061-A947-BCCE-BBF0D30722F0}" type="pres">
      <dgm:prSet presAssocID="{2C9A1F18-0812-FC42-A5E7-B2297A774211}" presName="composite" presStyleCnt="0"/>
      <dgm:spPr/>
    </dgm:pt>
    <dgm:pt modelId="{84D90640-313C-7F4B-A790-A0ACB62F9B23}" type="pres">
      <dgm:prSet presAssocID="{2C9A1F18-0812-FC42-A5E7-B2297A77421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539C3BA-B16A-8646-9862-9982251673B5}" type="pres">
      <dgm:prSet presAssocID="{2C9A1F18-0812-FC42-A5E7-B2297A774211}" presName="desTx" presStyleLbl="alignAccFollowNode1" presStyleIdx="0" presStyleCnt="3" custLinFactNeighborX="-3127" custLinFactNeighborY="352">
        <dgm:presLayoutVars>
          <dgm:bulletEnabled val="1"/>
        </dgm:presLayoutVars>
      </dgm:prSet>
      <dgm:spPr/>
    </dgm:pt>
    <dgm:pt modelId="{80EAE9C2-E234-7241-8BE5-7A1F01E0F3D6}" type="pres">
      <dgm:prSet presAssocID="{2224E24C-D8A3-B24B-8278-5DA94E1347E8}" presName="space" presStyleCnt="0"/>
      <dgm:spPr/>
    </dgm:pt>
    <dgm:pt modelId="{0E885D62-F830-254F-AA87-29B272BCEFF2}" type="pres">
      <dgm:prSet presAssocID="{25450A5A-2015-1C44-9BD6-A56F9D5C01D9}" presName="composite" presStyleCnt="0"/>
      <dgm:spPr/>
    </dgm:pt>
    <dgm:pt modelId="{5C243DC7-CDB1-AB4F-AE1C-C78FAB75EAB3}" type="pres">
      <dgm:prSet presAssocID="{25450A5A-2015-1C44-9BD6-A56F9D5C01D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6815EA5-FCE5-A24E-8AC7-D15493E72EA9}" type="pres">
      <dgm:prSet presAssocID="{25450A5A-2015-1C44-9BD6-A56F9D5C01D9}" presName="desTx" presStyleLbl="alignAccFollowNode1" presStyleIdx="1" presStyleCnt="3">
        <dgm:presLayoutVars>
          <dgm:bulletEnabled val="1"/>
        </dgm:presLayoutVars>
      </dgm:prSet>
      <dgm:spPr/>
    </dgm:pt>
    <dgm:pt modelId="{796637E3-8B29-BE4F-9DFD-55444F849894}" type="pres">
      <dgm:prSet presAssocID="{77CE7428-7402-DB46-968A-A9C0C8572B53}" presName="space" presStyleCnt="0"/>
      <dgm:spPr/>
    </dgm:pt>
    <dgm:pt modelId="{491A0383-EB5C-154C-B613-B9328063C2C3}" type="pres">
      <dgm:prSet presAssocID="{FA9FB8D3-3480-2944-8BBB-AD97E550E111}" presName="composite" presStyleCnt="0"/>
      <dgm:spPr/>
    </dgm:pt>
    <dgm:pt modelId="{3A4C4E7D-E255-AE45-96F7-940063975F73}" type="pres">
      <dgm:prSet presAssocID="{FA9FB8D3-3480-2944-8BBB-AD97E550E11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BF98ABA-1F58-B94C-82F1-F3054524DB14}" type="pres">
      <dgm:prSet presAssocID="{FA9FB8D3-3480-2944-8BBB-AD97E550E11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9D29307-68E8-6B40-A825-E918C4C2D79D}" srcId="{25450A5A-2015-1C44-9BD6-A56F9D5C01D9}" destId="{779BA2B7-229D-0340-AE7A-A71763552354}" srcOrd="1" destOrd="0" parTransId="{BEBC3416-A742-C64B-9E0E-A2D9FEB253AF}" sibTransId="{A0A8F285-17C7-324F-A8A6-89C257F6E85F}"/>
    <dgm:cxn modelId="{41928B20-AAD7-7D43-8770-7F22F63ACA5C}" srcId="{7C0E192C-F035-4B40-BA85-AC2E2812EE45}" destId="{25450A5A-2015-1C44-9BD6-A56F9D5C01D9}" srcOrd="1" destOrd="0" parTransId="{AA1FD39D-C6F3-C04D-BB91-7E35F741F33D}" sibTransId="{77CE7428-7402-DB46-968A-A9C0C8572B53}"/>
    <dgm:cxn modelId="{D5381D2E-43EF-114A-BD31-D7FC69990B1C}" type="presOf" srcId="{537AD1D3-7C52-D04A-B12E-5BA147338693}" destId="{1BF98ABA-1F58-B94C-82F1-F3054524DB14}" srcOrd="0" destOrd="3" presId="urn:microsoft.com/office/officeart/2005/8/layout/hList1"/>
    <dgm:cxn modelId="{1DF50331-0207-D94C-B9C9-962E02AFF112}" type="presOf" srcId="{47F08434-F729-6543-A07F-30DB16A171A4}" destId="{6539C3BA-B16A-8646-9862-9982251673B5}" srcOrd="0" destOrd="1" presId="urn:microsoft.com/office/officeart/2005/8/layout/hList1"/>
    <dgm:cxn modelId="{12847B39-8017-B942-9B6C-144F0CE8485A}" srcId="{25450A5A-2015-1C44-9BD6-A56F9D5C01D9}" destId="{2A3E750D-2F46-0144-B69F-75A582B03C9A}" srcOrd="0" destOrd="0" parTransId="{AF35E766-A58A-6B45-B94A-5BC66D51318E}" sibTransId="{5B31C5A7-7761-3A49-BDDE-77702FF445EF}"/>
    <dgm:cxn modelId="{3E99D442-3C91-004F-ADFD-E80AE72B95A7}" type="presOf" srcId="{9876CDEF-78DA-FC46-9301-B68078354266}" destId="{1BF98ABA-1F58-B94C-82F1-F3054524DB14}" srcOrd="0" destOrd="0" presId="urn:microsoft.com/office/officeart/2005/8/layout/hList1"/>
    <dgm:cxn modelId="{4FB8FE44-F14B-2F4B-B0F4-97992EAC7022}" srcId="{2C9A1F18-0812-FC42-A5E7-B2297A774211}" destId="{45D5A5D1-E9CB-8D44-BAD6-31BADD9021E0}" srcOrd="0" destOrd="0" parTransId="{5E1A78F5-84A6-1D4B-9FFA-95478775A9D1}" sibTransId="{2683018A-BE65-B743-A57D-7900C337B944}"/>
    <dgm:cxn modelId="{E98E4254-EF12-0647-9B72-9F12DB4C494C}" srcId="{2C9A1F18-0812-FC42-A5E7-B2297A774211}" destId="{CB00E77C-4A64-DB43-9213-2C28E36329C7}" srcOrd="2" destOrd="0" parTransId="{B503BB6D-C494-E642-AC67-3848514D04DC}" sibTransId="{9DA05993-CCC3-E941-AEB6-2ABCF91AC832}"/>
    <dgm:cxn modelId="{93718F55-EE43-8242-8945-15BD1164CFE7}" srcId="{FA9FB8D3-3480-2944-8BBB-AD97E550E111}" destId="{9876CDEF-78DA-FC46-9301-B68078354266}" srcOrd="0" destOrd="0" parTransId="{CDD22AE6-E045-624D-ACC4-DE135C983AB1}" sibTransId="{168545F8-53BE-F346-892C-6885E8F5B58F}"/>
    <dgm:cxn modelId="{E43A955B-797D-634E-BEBC-ABCB3217B24D}" type="presOf" srcId="{7C0E192C-F035-4B40-BA85-AC2E2812EE45}" destId="{A4241A04-DBF5-214A-8E48-C0551D921163}" srcOrd="0" destOrd="0" presId="urn:microsoft.com/office/officeart/2005/8/layout/hList1"/>
    <dgm:cxn modelId="{3AE4BF5F-43A6-504D-B53E-5188A2DBB7A9}" type="presOf" srcId="{7CE01E35-0DAD-A448-AA61-81E782974596}" destId="{1BF98ABA-1F58-B94C-82F1-F3054524DB14}" srcOrd="0" destOrd="1" presId="urn:microsoft.com/office/officeart/2005/8/layout/hList1"/>
    <dgm:cxn modelId="{10EDB163-CB32-C24A-9A58-AD925723F029}" srcId="{FA9FB8D3-3480-2944-8BBB-AD97E550E111}" destId="{7CE01E35-0DAD-A448-AA61-81E782974596}" srcOrd="1" destOrd="0" parTransId="{2CF5C5FA-4C95-B04F-B0D2-E146B9A2483C}" sibTransId="{8942A23C-999E-7A41-BA61-BB51C37D4491}"/>
    <dgm:cxn modelId="{EA0F526A-67C8-454E-BB06-DBB612D1C82D}" srcId="{7C0E192C-F035-4B40-BA85-AC2E2812EE45}" destId="{2C9A1F18-0812-FC42-A5E7-B2297A774211}" srcOrd="0" destOrd="0" parTransId="{AE9A8EC2-FBDA-7942-AEB5-48DEFDD1FCE2}" sibTransId="{2224E24C-D8A3-B24B-8278-5DA94E1347E8}"/>
    <dgm:cxn modelId="{1D6EC16B-AB1C-1E4B-BFFC-73938820A49F}" type="presOf" srcId="{779BA2B7-229D-0340-AE7A-A71763552354}" destId="{36815EA5-FCE5-A24E-8AC7-D15493E72EA9}" srcOrd="0" destOrd="1" presId="urn:microsoft.com/office/officeart/2005/8/layout/hList1"/>
    <dgm:cxn modelId="{A0F60D6F-36E5-F74C-97BF-CA0CFC7D378A}" srcId="{7C0E192C-F035-4B40-BA85-AC2E2812EE45}" destId="{FA9FB8D3-3480-2944-8BBB-AD97E550E111}" srcOrd="2" destOrd="0" parTransId="{735CEFAF-F4E5-0F4B-8B64-7F807FCB89DF}" sibTransId="{CCBF4503-D504-5648-88D9-E72A9D1B68B0}"/>
    <dgm:cxn modelId="{539F8573-14BC-9044-9033-3281C2310A54}" type="presOf" srcId="{CB00E77C-4A64-DB43-9213-2C28E36329C7}" destId="{6539C3BA-B16A-8646-9862-9982251673B5}" srcOrd="0" destOrd="2" presId="urn:microsoft.com/office/officeart/2005/8/layout/hList1"/>
    <dgm:cxn modelId="{8D6DD175-71B5-7145-A85D-14AD2E3842C5}" srcId="{25450A5A-2015-1C44-9BD6-A56F9D5C01D9}" destId="{410D3DC3-9EA4-2F47-B830-E47F4F4B30E2}" srcOrd="2" destOrd="0" parTransId="{94465A45-8F4E-B443-8ED7-44B6209B9815}" sibTransId="{DB4837FE-28A2-8749-9B60-E766BB7330E2}"/>
    <dgm:cxn modelId="{26F90987-F27A-6243-8CDC-192F840B27AA}" srcId="{FA9FB8D3-3480-2944-8BBB-AD97E550E111}" destId="{56418493-8DB6-1244-8D92-B02547A8D672}" srcOrd="2" destOrd="0" parTransId="{7DF5B3C5-8A42-2E49-A3CC-C0E44448080D}" sibTransId="{40CBFFAD-D452-694E-9054-8477484982A7}"/>
    <dgm:cxn modelId="{6746E8B2-15B1-6645-AB5C-8506FDCA8107}" type="presOf" srcId="{45D5A5D1-E9CB-8D44-BAD6-31BADD9021E0}" destId="{6539C3BA-B16A-8646-9862-9982251673B5}" srcOrd="0" destOrd="0" presId="urn:microsoft.com/office/officeart/2005/8/layout/hList1"/>
    <dgm:cxn modelId="{BA91C9B5-7E5A-E047-A97C-E4D8093C8A16}" type="presOf" srcId="{2C9A1F18-0812-FC42-A5E7-B2297A774211}" destId="{84D90640-313C-7F4B-A790-A0ACB62F9B23}" srcOrd="0" destOrd="0" presId="urn:microsoft.com/office/officeart/2005/8/layout/hList1"/>
    <dgm:cxn modelId="{AE098EB8-CB5B-C04E-B16D-3B575C7E49C9}" srcId="{2C9A1F18-0812-FC42-A5E7-B2297A774211}" destId="{1DE812EC-E98F-5F4C-8B99-A6FF49241BBA}" srcOrd="3" destOrd="0" parTransId="{BDD59219-74F0-C547-A30A-4DA25350ACDC}" sibTransId="{77F4ECB2-CCBA-AD4B-9E5A-676EAFD0FED7}"/>
    <dgm:cxn modelId="{75A1AFC0-F4A8-2C4D-86F2-0694962457F0}" srcId="{FA9FB8D3-3480-2944-8BBB-AD97E550E111}" destId="{537AD1D3-7C52-D04A-B12E-5BA147338693}" srcOrd="3" destOrd="0" parTransId="{1291EAC6-1518-A64D-A140-E3D6390A721C}" sibTransId="{7BBF6EB7-1495-B545-B300-8BB756143F3C}"/>
    <dgm:cxn modelId="{EA0D8FC1-BE1F-C645-8F1E-5E1B2FAA3225}" type="presOf" srcId="{25450A5A-2015-1C44-9BD6-A56F9D5C01D9}" destId="{5C243DC7-CDB1-AB4F-AE1C-C78FAB75EAB3}" srcOrd="0" destOrd="0" presId="urn:microsoft.com/office/officeart/2005/8/layout/hList1"/>
    <dgm:cxn modelId="{356C04D3-E2D7-9244-BC7E-75A5FF866118}" type="presOf" srcId="{1DE812EC-E98F-5F4C-8B99-A6FF49241BBA}" destId="{6539C3BA-B16A-8646-9862-9982251673B5}" srcOrd="0" destOrd="3" presId="urn:microsoft.com/office/officeart/2005/8/layout/hList1"/>
    <dgm:cxn modelId="{BC8C45D3-EEC1-E84D-81CF-373494333A0B}" srcId="{25450A5A-2015-1C44-9BD6-A56F9D5C01D9}" destId="{A04FACDA-A2EA-1642-9B2E-7049DB4566B5}" srcOrd="3" destOrd="0" parTransId="{F10DFACC-47AB-594F-BDC9-1E4D764B6FD1}" sibTransId="{59FC18DC-2A56-6D47-9CB5-005A50AE4C7A}"/>
    <dgm:cxn modelId="{70167DD4-5D1A-5D45-9661-B5BC261CFD7D}" type="presOf" srcId="{56418493-8DB6-1244-8D92-B02547A8D672}" destId="{1BF98ABA-1F58-B94C-82F1-F3054524DB14}" srcOrd="0" destOrd="2" presId="urn:microsoft.com/office/officeart/2005/8/layout/hList1"/>
    <dgm:cxn modelId="{885D0FD9-C8FF-A440-AD90-64768E6A6602}" srcId="{2C9A1F18-0812-FC42-A5E7-B2297A774211}" destId="{47F08434-F729-6543-A07F-30DB16A171A4}" srcOrd="1" destOrd="0" parTransId="{198212DD-A57B-974C-AE00-DDA48D46B1CD}" sibTransId="{A6D7C8E3-6BAC-B14A-B5BC-174B677EEE77}"/>
    <dgm:cxn modelId="{061975E1-14B1-3F41-9540-B0DFFDB54713}" type="presOf" srcId="{2A3E750D-2F46-0144-B69F-75A582B03C9A}" destId="{36815EA5-FCE5-A24E-8AC7-D15493E72EA9}" srcOrd="0" destOrd="0" presId="urn:microsoft.com/office/officeart/2005/8/layout/hList1"/>
    <dgm:cxn modelId="{F5ED34E9-4DFF-544A-B33A-E6DFCAE5C4CC}" type="presOf" srcId="{A04FACDA-A2EA-1642-9B2E-7049DB4566B5}" destId="{36815EA5-FCE5-A24E-8AC7-D15493E72EA9}" srcOrd="0" destOrd="3" presId="urn:microsoft.com/office/officeart/2005/8/layout/hList1"/>
    <dgm:cxn modelId="{2B888AE9-B303-1640-9D24-706905CFF78D}" type="presOf" srcId="{FA9FB8D3-3480-2944-8BBB-AD97E550E111}" destId="{3A4C4E7D-E255-AE45-96F7-940063975F73}" srcOrd="0" destOrd="0" presId="urn:microsoft.com/office/officeart/2005/8/layout/hList1"/>
    <dgm:cxn modelId="{9A0258F0-95EC-E24D-81A4-1748DD41DCB4}" type="presOf" srcId="{410D3DC3-9EA4-2F47-B830-E47F4F4B30E2}" destId="{36815EA5-FCE5-A24E-8AC7-D15493E72EA9}" srcOrd="0" destOrd="2" presId="urn:microsoft.com/office/officeart/2005/8/layout/hList1"/>
    <dgm:cxn modelId="{FD9E937F-1208-644A-AAA6-28600FF54E65}" type="presParOf" srcId="{A4241A04-DBF5-214A-8E48-C0551D921163}" destId="{7C4DD66D-3061-A947-BCCE-BBF0D30722F0}" srcOrd="0" destOrd="0" presId="urn:microsoft.com/office/officeart/2005/8/layout/hList1"/>
    <dgm:cxn modelId="{09B09CB2-00DC-8B40-8478-9400515C9180}" type="presParOf" srcId="{7C4DD66D-3061-A947-BCCE-BBF0D30722F0}" destId="{84D90640-313C-7F4B-A790-A0ACB62F9B23}" srcOrd="0" destOrd="0" presId="urn:microsoft.com/office/officeart/2005/8/layout/hList1"/>
    <dgm:cxn modelId="{CC8A7E25-AE79-8E44-A567-2F75561EC8DC}" type="presParOf" srcId="{7C4DD66D-3061-A947-BCCE-BBF0D30722F0}" destId="{6539C3BA-B16A-8646-9862-9982251673B5}" srcOrd="1" destOrd="0" presId="urn:microsoft.com/office/officeart/2005/8/layout/hList1"/>
    <dgm:cxn modelId="{099F2D23-357F-DC4E-A0AD-1847EFAE8D78}" type="presParOf" srcId="{A4241A04-DBF5-214A-8E48-C0551D921163}" destId="{80EAE9C2-E234-7241-8BE5-7A1F01E0F3D6}" srcOrd="1" destOrd="0" presId="urn:microsoft.com/office/officeart/2005/8/layout/hList1"/>
    <dgm:cxn modelId="{433896B2-AC30-9248-AD6C-6D89E4968AC7}" type="presParOf" srcId="{A4241A04-DBF5-214A-8E48-C0551D921163}" destId="{0E885D62-F830-254F-AA87-29B272BCEFF2}" srcOrd="2" destOrd="0" presId="urn:microsoft.com/office/officeart/2005/8/layout/hList1"/>
    <dgm:cxn modelId="{FEF99FE9-5242-7F44-B859-24A87FECBE17}" type="presParOf" srcId="{0E885D62-F830-254F-AA87-29B272BCEFF2}" destId="{5C243DC7-CDB1-AB4F-AE1C-C78FAB75EAB3}" srcOrd="0" destOrd="0" presId="urn:microsoft.com/office/officeart/2005/8/layout/hList1"/>
    <dgm:cxn modelId="{1038E539-A10B-D044-A064-123D65D1BEC2}" type="presParOf" srcId="{0E885D62-F830-254F-AA87-29B272BCEFF2}" destId="{36815EA5-FCE5-A24E-8AC7-D15493E72EA9}" srcOrd="1" destOrd="0" presId="urn:microsoft.com/office/officeart/2005/8/layout/hList1"/>
    <dgm:cxn modelId="{2708E54E-98F6-CE41-9C50-CF2CCC766473}" type="presParOf" srcId="{A4241A04-DBF5-214A-8E48-C0551D921163}" destId="{796637E3-8B29-BE4F-9DFD-55444F849894}" srcOrd="3" destOrd="0" presId="urn:microsoft.com/office/officeart/2005/8/layout/hList1"/>
    <dgm:cxn modelId="{3F99D8D9-8F40-9849-9BC2-300AE6BB82D6}" type="presParOf" srcId="{A4241A04-DBF5-214A-8E48-C0551D921163}" destId="{491A0383-EB5C-154C-B613-B9328063C2C3}" srcOrd="4" destOrd="0" presId="urn:microsoft.com/office/officeart/2005/8/layout/hList1"/>
    <dgm:cxn modelId="{72E7EDFA-15CA-2B43-81DA-A988DEA6A8AB}" type="presParOf" srcId="{491A0383-EB5C-154C-B613-B9328063C2C3}" destId="{3A4C4E7D-E255-AE45-96F7-940063975F73}" srcOrd="0" destOrd="0" presId="urn:microsoft.com/office/officeart/2005/8/layout/hList1"/>
    <dgm:cxn modelId="{33E3D1A3-123C-4D49-8477-CCE6B8EAFDBD}" type="presParOf" srcId="{491A0383-EB5C-154C-B613-B9328063C2C3}" destId="{1BF98ABA-1F58-B94C-82F1-F3054524DB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90640-313C-7F4B-A790-A0ACB62F9B23}">
      <dsp:nvSpPr>
        <dsp:cNvPr id="0" name=""/>
        <dsp:cNvSpPr/>
      </dsp:nvSpPr>
      <dsp:spPr>
        <a:xfrm>
          <a:off x="3446" y="40391"/>
          <a:ext cx="3360687" cy="7434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u="none" kern="1200" dirty="0"/>
            <a:t>Leverage High-Converting Segments</a:t>
          </a:r>
          <a:endParaRPr lang="en-GB" sz="2100" kern="1200" dirty="0"/>
        </a:p>
      </dsp:txBody>
      <dsp:txXfrm>
        <a:off x="3446" y="40391"/>
        <a:ext cx="3360687" cy="743451"/>
      </dsp:txXfrm>
    </dsp:sp>
    <dsp:sp modelId="{6539C3BA-B16A-8646-9862-9982251673B5}">
      <dsp:nvSpPr>
        <dsp:cNvPr id="0" name=""/>
        <dsp:cNvSpPr/>
      </dsp:nvSpPr>
      <dsp:spPr>
        <a:xfrm>
          <a:off x="0" y="795980"/>
          <a:ext cx="3360687" cy="34478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GB" sz="1600" b="0" kern="1200" dirty="0"/>
            <a:t>To </a:t>
          </a:r>
          <a:r>
            <a:rPr lang="en-GB" sz="1600" b="1" kern="1200" dirty="0"/>
            <a:t>maximize early returns</a:t>
          </a:r>
          <a:r>
            <a:rPr lang="en-GB" sz="1600" b="0" kern="1200" dirty="0"/>
            <a:t> focus 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Char char="§"/>
          </a:pPr>
          <a:r>
            <a:rPr lang="en-IN" sz="1600" b="0" kern="1200" dirty="0"/>
            <a:t>Retired and Student Profiles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Char char="§"/>
          </a:pPr>
          <a:r>
            <a:rPr lang="en-IN" sz="1600" b="0" kern="1200" dirty="0"/>
            <a:t>Senior Customers (Age 60+)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Char char="§"/>
          </a:pPr>
          <a:r>
            <a:rPr lang="en-IN" sz="1600" b="0" kern="1200" dirty="0"/>
            <a:t>Highly Educated Individuals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Char char="§"/>
          </a:pPr>
          <a:r>
            <a:rPr lang="en-IN" sz="1600" b="0" kern="1200" dirty="0"/>
            <a:t>Customers with Previous Campaign Success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Char char="§"/>
          </a:pPr>
          <a:r>
            <a:rPr lang="en-IN" sz="1600" b="0" kern="1200" dirty="0"/>
            <a:t>Long Call Duration (&gt;360s)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Wingdings" pitchFamily="2" charset="2"/>
            <a:buNone/>
          </a:pPr>
          <a:endParaRPr lang="en-IN" sz="16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b="1" kern="1200" dirty="0"/>
            <a:t>Strategically use</a:t>
          </a:r>
          <a:r>
            <a:rPr lang="en-IN" sz="1600" b="0" kern="1200" dirty="0"/>
            <a:t>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personalized outreach, </a:t>
          </a:r>
          <a:endParaRPr lang="en-IN" sz="1600" b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premium deposit schemes,</a:t>
          </a:r>
          <a:endParaRPr lang="en-IN" sz="1600" b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loyalty-based incentives </a:t>
          </a:r>
          <a:endParaRPr lang="en-IN" sz="1600" b="0" kern="1200" dirty="0"/>
        </a:p>
      </dsp:txBody>
      <dsp:txXfrm>
        <a:off x="0" y="795980"/>
        <a:ext cx="3360687" cy="3447891"/>
      </dsp:txXfrm>
    </dsp:sp>
    <dsp:sp modelId="{5C243DC7-CDB1-AB4F-AE1C-C78FAB75EAB3}">
      <dsp:nvSpPr>
        <dsp:cNvPr id="0" name=""/>
        <dsp:cNvSpPr/>
      </dsp:nvSpPr>
      <dsp:spPr>
        <a:xfrm>
          <a:off x="3834631" y="40391"/>
          <a:ext cx="3360687" cy="7434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Segment-Specific Messaging and Call Strategies</a:t>
          </a:r>
          <a:endParaRPr lang="en-GB" sz="2100" b="0" kern="1200" dirty="0"/>
        </a:p>
      </dsp:txBody>
      <dsp:txXfrm>
        <a:off x="3834631" y="40391"/>
        <a:ext cx="3360687" cy="743451"/>
      </dsp:txXfrm>
    </dsp:sp>
    <dsp:sp modelId="{36815EA5-FCE5-A24E-8AC7-D15493E72EA9}">
      <dsp:nvSpPr>
        <dsp:cNvPr id="0" name=""/>
        <dsp:cNvSpPr/>
      </dsp:nvSpPr>
      <dsp:spPr>
        <a:xfrm>
          <a:off x="3834631" y="783843"/>
          <a:ext cx="3360687" cy="34478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Deprioritize</a:t>
          </a:r>
          <a:r>
            <a:rPr lang="en-IN" sz="1600" kern="1200" dirty="0"/>
            <a:t> efforts where multiple weak traits overlap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Test new scripts </a:t>
          </a:r>
          <a:r>
            <a:rPr lang="en-IN" sz="1600" kern="1200" dirty="0"/>
            <a:t>in borderline segments to unlock untapped potential (E.g.: Blue-collar workers)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Focus on quick rapport-building and clarity of product value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Reframe short calls to focus on objections and schedule follow-ups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A/B test</a:t>
          </a:r>
          <a:r>
            <a:rPr lang="en-IN" sz="1600" kern="1200" dirty="0"/>
            <a:t> messaging in low-performing but large segments</a:t>
          </a:r>
        </a:p>
      </dsp:txBody>
      <dsp:txXfrm>
        <a:off x="3834631" y="783843"/>
        <a:ext cx="3360687" cy="3447891"/>
      </dsp:txXfrm>
    </dsp:sp>
    <dsp:sp modelId="{3A4C4E7D-E255-AE45-96F7-940063975F73}">
      <dsp:nvSpPr>
        <dsp:cNvPr id="0" name=""/>
        <dsp:cNvSpPr/>
      </dsp:nvSpPr>
      <dsp:spPr>
        <a:xfrm>
          <a:off x="7665815" y="40391"/>
          <a:ext cx="3360687" cy="7434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Strategic Engagement of the 30–59 Age Segment</a:t>
          </a:r>
          <a:endParaRPr lang="en-GB" sz="2100" b="0" kern="1200" dirty="0"/>
        </a:p>
      </dsp:txBody>
      <dsp:txXfrm>
        <a:off x="7665815" y="40391"/>
        <a:ext cx="3360687" cy="743451"/>
      </dsp:txXfrm>
    </dsp:sp>
    <dsp:sp modelId="{1BF98ABA-1F58-B94C-82F1-F3054524DB14}">
      <dsp:nvSpPr>
        <dsp:cNvPr id="0" name=""/>
        <dsp:cNvSpPr/>
      </dsp:nvSpPr>
      <dsp:spPr>
        <a:xfrm>
          <a:off x="7665815" y="783843"/>
          <a:ext cx="3360687" cy="34478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b="0" i="0" u="none" kern="1200" dirty="0"/>
            <a:t>Segment represents over </a:t>
          </a:r>
          <a:r>
            <a:rPr lang="en-IN" sz="1600" b="1" i="0" u="none" kern="1200" dirty="0"/>
            <a:t>60% of contacts</a:t>
          </a:r>
          <a:r>
            <a:rPr lang="en-IN" sz="1600" b="0" i="0" u="none" kern="1200" dirty="0"/>
            <a:t> but shows low conversion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Introduce </a:t>
          </a:r>
          <a:r>
            <a:rPr lang="en-IN" sz="1600" b="1" kern="1200" dirty="0"/>
            <a:t>flexible</a:t>
          </a:r>
          <a:r>
            <a:rPr lang="en-IN" sz="1600" kern="1200" dirty="0"/>
            <a:t> term deposits with easy withdrawal/top-up</a:t>
          </a:r>
          <a:endParaRPr lang="en-GB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Offer </a:t>
          </a:r>
          <a:r>
            <a:rPr lang="en-IN" sz="1600" b="1" kern="1200" dirty="0"/>
            <a:t>loan-linked products </a:t>
          </a:r>
          <a:r>
            <a:rPr lang="en-IN" sz="1600" kern="1200" dirty="0"/>
            <a:t>for better returns to borrowers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Promote </a:t>
          </a:r>
          <a:r>
            <a:rPr lang="en-IN" sz="1600" b="1" kern="1200" dirty="0"/>
            <a:t>tax-saving </a:t>
          </a:r>
          <a:r>
            <a:rPr lang="en-IN" sz="1600" kern="1200" dirty="0"/>
            <a:t>deposit schemes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Encourage </a:t>
          </a:r>
          <a:r>
            <a:rPr lang="en-IN" sz="1600" b="1" kern="1200" dirty="0"/>
            <a:t>micro-savings</a:t>
          </a:r>
          <a:r>
            <a:rPr lang="en-IN" sz="1600" kern="1200" dirty="0"/>
            <a:t> via digital salary-linked tools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Frame </a:t>
          </a:r>
          <a:r>
            <a:rPr lang="en-IN" sz="1600" b="1" kern="1200" dirty="0"/>
            <a:t>campaigns around life goals </a:t>
          </a:r>
          <a:r>
            <a:rPr lang="en-IN" sz="1600" kern="1200" dirty="0"/>
            <a:t>and milestones</a:t>
          </a:r>
        </a:p>
      </dsp:txBody>
      <dsp:txXfrm>
        <a:off x="7665815" y="783843"/>
        <a:ext cx="3360687" cy="34478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90640-313C-7F4B-A790-A0ACB62F9B23}">
      <dsp:nvSpPr>
        <dsp:cNvPr id="0" name=""/>
        <dsp:cNvSpPr/>
      </dsp:nvSpPr>
      <dsp:spPr>
        <a:xfrm>
          <a:off x="3446" y="6955"/>
          <a:ext cx="3360687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u="none" kern="1200" dirty="0"/>
            <a:t>Timing Optimization</a:t>
          </a:r>
          <a:endParaRPr lang="en-GB" sz="2200" kern="1200" dirty="0"/>
        </a:p>
      </dsp:txBody>
      <dsp:txXfrm>
        <a:off x="3446" y="6955"/>
        <a:ext cx="3360687" cy="835200"/>
      </dsp:txXfrm>
    </dsp:sp>
    <dsp:sp modelId="{6539C3BA-B16A-8646-9862-9982251673B5}">
      <dsp:nvSpPr>
        <dsp:cNvPr id="0" name=""/>
        <dsp:cNvSpPr/>
      </dsp:nvSpPr>
      <dsp:spPr>
        <a:xfrm>
          <a:off x="0" y="849111"/>
          <a:ext cx="3360687" cy="34230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Prioritize </a:t>
          </a:r>
          <a:r>
            <a:rPr lang="en-IN" sz="1600" b="1" kern="1200" dirty="0"/>
            <a:t>March, September, October, December</a:t>
          </a:r>
          <a:r>
            <a:rPr lang="en-IN" sz="1600" kern="1200" dirty="0"/>
            <a:t> — high conversion despite moderate outreach</a:t>
          </a:r>
          <a:endParaRPr lang="en-GB" sz="1600" b="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Reduce campaigns during </a:t>
          </a:r>
          <a:r>
            <a:rPr lang="en-IN" sz="1600" b="1" kern="1200" dirty="0"/>
            <a:t>May, June, July</a:t>
          </a:r>
          <a:r>
            <a:rPr lang="en-IN" sz="1600" kern="1200" dirty="0"/>
            <a:t> — poor returns despite effort</a:t>
          </a:r>
          <a:endParaRPr lang="en-GB" sz="1600" b="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Conduct </a:t>
          </a:r>
          <a:r>
            <a:rPr lang="en-IN" sz="1600" b="1" kern="1200" dirty="0"/>
            <a:t>controlled experiments</a:t>
          </a:r>
          <a:r>
            <a:rPr lang="en-IN" sz="1600" kern="1200" dirty="0"/>
            <a:t> in peak months to identify success drivers</a:t>
          </a:r>
          <a:endParaRPr lang="en-GB" sz="1600" b="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Align campaign timing with responsive months to reduce fatigue and improve ROI</a:t>
          </a:r>
          <a:endParaRPr lang="en-GB" sz="1600" b="0" kern="1200" dirty="0"/>
        </a:p>
      </dsp:txBody>
      <dsp:txXfrm>
        <a:off x="0" y="849111"/>
        <a:ext cx="3360687" cy="3423015"/>
      </dsp:txXfrm>
    </dsp:sp>
    <dsp:sp modelId="{5C243DC7-CDB1-AB4F-AE1C-C78FAB75EAB3}">
      <dsp:nvSpPr>
        <dsp:cNvPr id="0" name=""/>
        <dsp:cNvSpPr/>
      </dsp:nvSpPr>
      <dsp:spPr>
        <a:xfrm>
          <a:off x="3834631" y="6955"/>
          <a:ext cx="3360687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u="none" kern="1200" dirty="0"/>
            <a:t>Data Quality Enhancement</a:t>
          </a:r>
          <a:endParaRPr lang="en-GB" sz="2200" b="0" kern="1200" dirty="0"/>
        </a:p>
      </dsp:txBody>
      <dsp:txXfrm>
        <a:off x="3834631" y="6955"/>
        <a:ext cx="3360687" cy="835200"/>
      </dsp:txXfrm>
    </dsp:sp>
    <dsp:sp modelId="{36815EA5-FCE5-A24E-8AC7-D15493E72EA9}">
      <dsp:nvSpPr>
        <dsp:cNvPr id="0" name=""/>
        <dsp:cNvSpPr/>
      </dsp:nvSpPr>
      <dsp:spPr>
        <a:xfrm>
          <a:off x="3834631" y="842155"/>
          <a:ext cx="3360687" cy="34230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GB" sz="1600" kern="1200" dirty="0"/>
            <a:t>High proportion of “unknown values” linked to low conversion, so </a:t>
          </a:r>
          <a:r>
            <a:rPr lang="en-IN" sz="1600" b="0" i="0" u="none" kern="1200" dirty="0"/>
            <a:t>Improved data will directly enhance </a:t>
          </a:r>
          <a:r>
            <a:rPr lang="en-IN" sz="1600" b="1" i="0" u="none" kern="1200" dirty="0"/>
            <a:t>model precision</a:t>
          </a:r>
          <a:r>
            <a:rPr lang="en-IN" sz="1600" b="0" i="0" u="none" kern="1200" dirty="0"/>
            <a:t> and targeting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Enforce </a:t>
          </a:r>
          <a:r>
            <a:rPr lang="en-IN" sz="1600" b="1" kern="1200" dirty="0"/>
            <a:t>mandatory data capture</a:t>
          </a:r>
          <a:r>
            <a:rPr lang="en-IN" sz="1600" kern="1200" dirty="0"/>
            <a:t> via CRM prompts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b="0" i="0" u="none" kern="1200" dirty="0"/>
            <a:t>Investigate sources of “unknown” data and </a:t>
          </a:r>
          <a:r>
            <a:rPr lang="en-IN" sz="1600" b="1" i="0" u="none" kern="1200" dirty="0"/>
            <a:t>vet</a:t>
          </a:r>
          <a:r>
            <a:rPr lang="en-IN" sz="1600" b="0" i="0" u="none" kern="1200" dirty="0"/>
            <a:t> low-quality acquisition channels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b="1" i="0" u="none" kern="1200" dirty="0"/>
            <a:t>Impute or cluster</a:t>
          </a:r>
          <a:r>
            <a:rPr lang="en-IN" sz="1600" b="0" i="0" u="none" kern="1200" dirty="0"/>
            <a:t> “unknown” entries to reclassify them into useful segments</a:t>
          </a:r>
          <a:endParaRPr lang="en-GB" sz="1600" kern="1200" dirty="0"/>
        </a:p>
      </dsp:txBody>
      <dsp:txXfrm>
        <a:off x="3834631" y="842155"/>
        <a:ext cx="3360687" cy="3423015"/>
      </dsp:txXfrm>
    </dsp:sp>
    <dsp:sp modelId="{3A4C4E7D-E255-AE45-96F7-940063975F73}">
      <dsp:nvSpPr>
        <dsp:cNvPr id="0" name=""/>
        <dsp:cNvSpPr/>
      </dsp:nvSpPr>
      <dsp:spPr>
        <a:xfrm>
          <a:off x="7665815" y="6955"/>
          <a:ext cx="3360687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u="none" kern="1200" dirty="0"/>
            <a:t>Continuous Feedback &amp; Monitoring</a:t>
          </a:r>
          <a:endParaRPr lang="en-GB" sz="2200" b="0" kern="1200" dirty="0"/>
        </a:p>
      </dsp:txBody>
      <dsp:txXfrm>
        <a:off x="7665815" y="6955"/>
        <a:ext cx="3360687" cy="835200"/>
      </dsp:txXfrm>
    </dsp:sp>
    <dsp:sp modelId="{1BF98ABA-1F58-B94C-82F1-F3054524DB14}">
      <dsp:nvSpPr>
        <dsp:cNvPr id="0" name=""/>
        <dsp:cNvSpPr/>
      </dsp:nvSpPr>
      <dsp:spPr>
        <a:xfrm>
          <a:off x="7665815" y="842155"/>
          <a:ext cx="3360687" cy="34230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Integrate </a:t>
          </a:r>
          <a:r>
            <a:rPr lang="en-IN" sz="1600" b="1" kern="1200" dirty="0"/>
            <a:t>predictive models into CRM</a:t>
          </a:r>
          <a:r>
            <a:rPr lang="en-IN" sz="1600" kern="1200" dirty="0"/>
            <a:t> to auto-score leads for real-time targeting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kern="1200" dirty="0"/>
            <a:t>Capture </a:t>
          </a:r>
          <a:r>
            <a:rPr lang="en-IN" sz="1600" b="1" kern="1200" dirty="0"/>
            <a:t>customer feedback &amp; agent insights</a:t>
          </a:r>
          <a:r>
            <a:rPr lang="en-IN" sz="1600" kern="1200" dirty="0"/>
            <a:t> post-call for continuous refinement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IN" sz="1600" b="1" kern="1200" dirty="0"/>
            <a:t>Track KPIs </a:t>
          </a:r>
          <a:r>
            <a:rPr lang="en-IN" sz="1600" kern="1200" dirty="0"/>
            <a:t>like </a:t>
          </a:r>
          <a:r>
            <a:rPr lang="en-IN" sz="1600" b="0" kern="1200" dirty="0"/>
            <a:t>conversion rate, segment performance, contact-to-conversion ratios</a:t>
          </a:r>
          <a:endParaRPr lang="en-GB" sz="1600" b="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§"/>
          </a:pPr>
          <a:r>
            <a:rPr lang="en-US" sz="1600" kern="1200" dirty="0"/>
            <a:t>Create a structured process to </a:t>
          </a:r>
          <a:r>
            <a:rPr lang="en-US" sz="1600" b="1" kern="1200" dirty="0"/>
            <a:t>document what worked </a:t>
          </a:r>
          <a:r>
            <a:rPr lang="en-US" sz="1600" b="0" kern="1200" dirty="0"/>
            <a:t>(or </a:t>
          </a:r>
          <a:r>
            <a:rPr lang="en-US" sz="1600" kern="1200" dirty="0"/>
            <a:t>didn’t) in each cycle</a:t>
          </a:r>
          <a:endParaRPr lang="en-GB" sz="1600" b="0" kern="1200" dirty="0"/>
        </a:p>
      </dsp:txBody>
      <dsp:txXfrm>
        <a:off x="7665815" y="842155"/>
        <a:ext cx="3360687" cy="3423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DF2CC-CB23-374A-BD44-C76D202C5A02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B5DA6-8158-BA47-B73F-390A26B55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3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B5DA6-8158-BA47-B73F-390A26B555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i="0" u="none" strike="noStrike" dirty="0">
                <a:solidFill>
                  <a:srgbClr val="000000"/>
                </a:solidFill>
                <a:effectLst/>
              </a:rPr>
              <a:t>Value -1</a:t>
            </a:r>
            <a:r>
              <a:rPr lang="en-IN" sz="1200" b="0" i="0" u="none" strike="noStrike" dirty="0">
                <a:solidFill>
                  <a:srgbClr val="000000"/>
                </a:solidFill>
                <a:effectLst/>
              </a:rPr>
              <a:t> (no prior contact) excluded for clarity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B5DA6-8158-BA47-B73F-390A26B555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9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B5DA6-8158-BA47-B73F-390A26B555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17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0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5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0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9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3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1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3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8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4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969EEE2-7F53-3344-A3C3-E3EDD251C24C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0902618-0FB3-1A49-98E9-2E1881B815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628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_hAssfdglvBmNO1srea_bO_Rx5bjiEX/view?pli=1" TargetMode="External"/><Relationship Id="rId2" Type="http://schemas.openxmlformats.org/officeDocument/2006/relationships/hyperlink" Target="https://archive.ics.uci.edu/dataset/222/bank+market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slide" Target="slide1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4.png"/><Relationship Id="rId7" Type="http://schemas.openxmlformats.org/officeDocument/2006/relationships/slide" Target="slide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slide" Target="slide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C0B4-D911-CA29-A433-90913F1F9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89" y="506512"/>
            <a:ext cx="10175111" cy="2575241"/>
          </a:xfrm>
        </p:spPr>
        <p:txBody>
          <a:bodyPr>
            <a:normAutofit/>
          </a:bodyPr>
          <a:lstStyle/>
          <a:p>
            <a:br>
              <a:rPr lang="en-US" sz="3000" dirty="0"/>
            </a:br>
            <a:r>
              <a:rPr lang="en-US" sz="3000" dirty="0"/>
              <a:t>Improving Term Deposit Subscription Rates through Data-Driven Customer Segmentation and Campaign Optimization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CBB7F-6EC2-8886-78D3-2378B7401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5292436"/>
            <a:ext cx="6919861" cy="127111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Saloni Singh  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Roll Number: 24DS1000028  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IITM Online BS Degree Program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id="{BA05BFF9-9641-C76C-AB69-FF3141076E5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2181" y="5043171"/>
            <a:ext cx="1153020" cy="1111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FCE34-3373-EDEA-1567-3932AD930AB9}"/>
              </a:ext>
            </a:extLst>
          </p:cNvPr>
          <p:cNvSpPr txBox="1"/>
          <p:nvPr/>
        </p:nvSpPr>
        <p:spPr>
          <a:xfrm>
            <a:off x="613458" y="3278528"/>
            <a:ext cx="730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1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-webkit-standard"/>
              </a:rPr>
              <a:t>A BDM Capstone Project using Secondary Data Analysis</a:t>
            </a:r>
            <a:endParaRPr lang="en-US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0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082B-0DB5-3633-B134-97F66C93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Metadata &amp;</a:t>
            </a:r>
            <a:br>
              <a:rPr lang="en-US" dirty="0"/>
            </a:br>
            <a:r>
              <a:rPr lang="en-US" dirty="0"/>
              <a:t>descriptive statistics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337929-FD20-9E89-3BE8-B962D44EC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87441"/>
              </p:ext>
            </p:extLst>
          </p:nvPr>
        </p:nvGraphicFramePr>
        <p:xfrm>
          <a:off x="707314" y="2081048"/>
          <a:ext cx="4716022" cy="4501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751">
                  <a:extLst>
                    <a:ext uri="{9D8B030D-6E8A-4147-A177-3AD203B41FA5}">
                      <a16:colId xmlns:a16="http://schemas.microsoft.com/office/drawing/2014/main" val="4072946363"/>
                    </a:ext>
                  </a:extLst>
                </a:gridCol>
                <a:gridCol w="1220523">
                  <a:extLst>
                    <a:ext uri="{9D8B030D-6E8A-4147-A177-3AD203B41FA5}">
                      <a16:colId xmlns:a16="http://schemas.microsoft.com/office/drawing/2014/main" val="1355218184"/>
                    </a:ext>
                  </a:extLst>
                </a:gridCol>
                <a:gridCol w="704447">
                  <a:extLst>
                    <a:ext uri="{9D8B030D-6E8A-4147-A177-3AD203B41FA5}">
                      <a16:colId xmlns:a16="http://schemas.microsoft.com/office/drawing/2014/main" val="1091632986"/>
                    </a:ext>
                  </a:extLst>
                </a:gridCol>
                <a:gridCol w="2042301">
                  <a:extLst>
                    <a:ext uri="{9D8B030D-6E8A-4147-A177-3AD203B41FA5}">
                      <a16:colId xmlns:a16="http://schemas.microsoft.com/office/drawing/2014/main" val="3506827121"/>
                    </a:ext>
                  </a:extLst>
                </a:gridCol>
              </a:tblGrid>
              <a:tr h="30357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Variable 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Description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Data Type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Range / Values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2443579593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age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Age of the customer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18 to 95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2530949254"/>
                  </a:ext>
                </a:extLst>
              </a:tr>
              <a:tr h="6241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job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Type of job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‘admin.’, ‘unknown’, ‘unemployed’, ‘management’, ‘retired’, ‘housemaid’, ‘entrepreneur’, ‘student’, ‘blue-collar’, ‘self-employed’, ‘technician’, ‘services’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4214609981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marital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Marital status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‘married’, ‘divorced’, ‘single’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4273865340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education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Education level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‘unknown’, ‘secondary’, ‘primary’, ‘tertiary’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3340370848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default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Has credit in default?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Binary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‘yes’, ‘no’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2579898845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balance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Average yearly balance 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-6847 to 81204 (in Euros)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3869106242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housing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Has housing loan?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Binary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‘yes’, ‘no’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3126146548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loan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Has personal loan?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Binary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‘yes’, ‘no’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2028272216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contact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Communication type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‘unknown’, ‘telephone’, ‘cellular’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2487676236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day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Last contact day 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 to 31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1268923389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month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Last contact month 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‘jan’, ‘feb’, ..., ‘dec’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74048866"/>
                  </a:ext>
                </a:extLst>
              </a:tr>
              <a:tr h="1432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duration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Last contact duration 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2 to 3881 (in seconds)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541553327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campaign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Number of contacts during this campaign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 to 63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707556887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pdays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Days since last contact 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-1 to 854 (-1= never contacted)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3529995927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previous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Number of contacts before this campaign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Numeric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 to 58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639292078"/>
                  </a:ext>
                </a:extLst>
              </a:tr>
              <a:tr h="3035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poutcome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Outcome of previous marketing campaign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Categorical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‘unknown’, ‘other’, ‘failure’, ‘success’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3993702132"/>
                  </a:ext>
                </a:extLst>
              </a:tr>
              <a:tr h="4638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deposit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Target variable: Subscribed to deposit?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Binary</a:t>
                      </a:r>
                      <a:endParaRPr lang="en-IN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‘yes’, ‘no’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96" marR="38196" marT="0" marB="0"/>
                </a:tc>
                <a:extLst>
                  <a:ext uri="{0D108BD9-81ED-4DB2-BD59-A6C34878D82A}">
                    <a16:rowId xmlns:a16="http://schemas.microsoft.com/office/drawing/2014/main" val="846361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072C80-AC4D-7B94-CEF2-4FAB2D469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076727"/>
              </p:ext>
            </p:extLst>
          </p:nvPr>
        </p:nvGraphicFramePr>
        <p:xfrm>
          <a:off x="5758471" y="3429000"/>
          <a:ext cx="5652770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3785">
                  <a:extLst>
                    <a:ext uri="{9D8B030D-6E8A-4147-A177-3AD203B41FA5}">
                      <a16:colId xmlns:a16="http://schemas.microsoft.com/office/drawing/2014/main" val="342114470"/>
                    </a:ext>
                  </a:extLst>
                </a:gridCol>
                <a:gridCol w="755015">
                  <a:extLst>
                    <a:ext uri="{9D8B030D-6E8A-4147-A177-3AD203B41FA5}">
                      <a16:colId xmlns:a16="http://schemas.microsoft.com/office/drawing/2014/main" val="183357479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19530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5447814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41190595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4225415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Mean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Median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Std Dev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Min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Max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0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41.2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39.0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11.9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18.0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95.0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5065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Balance (€)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1528.5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550.0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3225.4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-6847.0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81204.0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6957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Duration (s)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372.0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255.0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347.1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3881.0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8413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Campaign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2.5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2.7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63.0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1394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Pdays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51.3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-1.0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108.8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-1.0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854.0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940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Previous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0.8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2.3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0.0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58.0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794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56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A869-5CA7-4F6A-1B11-B9EDBD76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-webkit-standard"/>
              </a:rPr>
              <a:t>Organization Background and dataset details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2288-81D5-894B-A2D0-41B4A7E3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1700" dirty="0"/>
              <a:t>A Portuguese banking institution ran direct marketing campaigns to promote term deposit subscriptions via phone calls.</a:t>
            </a:r>
          </a:p>
          <a:p>
            <a:pPr>
              <a:lnSpc>
                <a:spcPct val="150000"/>
              </a:lnSpc>
            </a:pPr>
            <a:r>
              <a:rPr lang="en-IN" sz="1700" dirty="0"/>
              <a:t>The project uses a </a:t>
            </a:r>
            <a:r>
              <a:rPr lang="en-IN" sz="1700" b="1" dirty="0"/>
              <a:t>secondary dataset</a:t>
            </a:r>
            <a:r>
              <a:rPr lang="en-IN" sz="1700" dirty="0"/>
              <a:t>: the </a:t>
            </a:r>
            <a:r>
              <a:rPr lang="en-IN" sz="1700" i="1" dirty="0"/>
              <a:t>Bank Marketing Dataset</a:t>
            </a:r>
            <a:r>
              <a:rPr lang="en-IN" sz="1700" dirty="0"/>
              <a:t> from the </a:t>
            </a:r>
            <a:r>
              <a:rPr lang="en-IN" sz="1700" b="1" dirty="0"/>
              <a:t>UCI Machine Learning Repository</a:t>
            </a:r>
            <a:r>
              <a:rPr lang="en-IN" sz="1700" dirty="0"/>
              <a:t>, sourced in its balanced form from </a:t>
            </a:r>
            <a:r>
              <a:rPr lang="en-IN" sz="1700" b="1" dirty="0"/>
              <a:t>Kaggle</a:t>
            </a:r>
            <a:r>
              <a:rPr lang="en-IN" sz="1700" dirty="0"/>
              <a:t> (11,162 records, 17 variables).</a:t>
            </a:r>
          </a:p>
          <a:p>
            <a:pPr>
              <a:lnSpc>
                <a:spcPct val="150000"/>
              </a:lnSpc>
            </a:pPr>
            <a:r>
              <a:rPr lang="en-IN" sz="1700" dirty="0"/>
              <a:t>Dataset includes features like </a:t>
            </a:r>
            <a:r>
              <a:rPr lang="en-IN" sz="1700" b="1" dirty="0"/>
              <a:t>age, job, marital status, education, contact type, balance, loan history, number of contacts, call duration, month of contact</a:t>
            </a:r>
            <a:r>
              <a:rPr lang="en-IN" sz="1700" dirty="0"/>
              <a:t> and </a:t>
            </a:r>
            <a:r>
              <a:rPr lang="en-IN" sz="1700" b="1" dirty="0"/>
              <a:t>past campaign outcomes</a:t>
            </a:r>
            <a:r>
              <a:rPr lang="en-IN" sz="1700" dirty="0"/>
              <a:t>. </a:t>
            </a:r>
          </a:p>
          <a:p>
            <a:pPr>
              <a:lnSpc>
                <a:spcPct val="150000"/>
              </a:lnSpc>
            </a:pPr>
            <a:r>
              <a:rPr lang="en-IN" sz="1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 </a:t>
            </a:r>
            <a:r>
              <a:rPr lang="en-IN" sz="1700" b="1" i="0" u="none" strike="noStrike" dirty="0">
                <a:solidFill>
                  <a:srgbClr val="000000"/>
                </a:solidFill>
                <a:effectLst/>
              </a:rPr>
              <a:t>target variable</a:t>
            </a:r>
            <a:r>
              <a:rPr lang="en-IN" sz="1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whether the customer </a:t>
            </a:r>
            <a:r>
              <a:rPr lang="en-IN" sz="1700" b="1" i="0" u="none" strike="noStrike" dirty="0">
                <a:solidFill>
                  <a:srgbClr val="000000"/>
                </a:solidFill>
                <a:effectLst/>
              </a:rPr>
              <a:t>subscribed to a term deposit</a:t>
            </a:r>
            <a:r>
              <a:rPr lang="en-IN" sz="1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(</a:t>
            </a:r>
            <a:r>
              <a:rPr lang="en-IN" sz="1700" dirty="0"/>
              <a:t>deposit = yes/no</a:t>
            </a:r>
            <a:r>
              <a:rPr lang="en-IN" sz="17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📂  Dataset Links: </a:t>
            </a:r>
            <a:r>
              <a:rPr lang="en-US" dirty="0">
                <a:hlinkClick r:id="rId2"/>
              </a:rPr>
              <a:t>UCI Repository</a:t>
            </a:r>
            <a:r>
              <a:rPr lang="en-US" dirty="0"/>
              <a:t> | Balanced version: </a:t>
            </a:r>
            <a:r>
              <a:rPr lang="en-US" dirty="0">
                <a:hlinkClick r:id="rId3"/>
              </a:rPr>
              <a:t>Kaggle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📎  </a:t>
            </a:r>
            <a:r>
              <a:rPr lang="en-US" dirty="0">
                <a:hlinkClick r:id="rId4" action="ppaction://hlinksldjump"/>
              </a:rPr>
              <a:t>Metadata &amp; Descriptive Statistics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349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6D37-E76F-4732-3E4E-72D0068C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chemeClr val="bg1">
                    <a:lumMod val="95000"/>
                  </a:schemeClr>
                </a:solidFill>
                <a:effectLst/>
              </a:rPr>
              <a:t>Problem Statement and Objectives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4CDCE-DD9B-C594-5E6A-EC73E642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IN" sz="1900" b="1" u="none" strike="noStrike" dirty="0">
                <a:solidFill>
                  <a:srgbClr val="1C3B72"/>
                </a:solidFill>
                <a:effectLst/>
              </a:rPr>
              <a:t>Problem Statement</a:t>
            </a:r>
            <a:br>
              <a:rPr lang="en-IN" b="0" i="1" u="none" strike="noStrike" dirty="0">
                <a:solidFill>
                  <a:srgbClr val="000000"/>
                </a:solidFill>
                <a:effectLst/>
              </a:rPr>
            </a:b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How can business data management methods be used to improve the targeting and efficiency of telemarketing campaigns aimed at increasing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term deposit subscriptions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?</a:t>
            </a:r>
          </a:p>
          <a:p>
            <a:pPr marL="0" indent="0" algn="l">
              <a:buNone/>
            </a:pPr>
            <a:endParaRPr lang="en-IN" i="1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IN" sz="1900" b="1" strike="noStrike" dirty="0">
                <a:solidFill>
                  <a:srgbClr val="1C3B72"/>
                </a:solidFill>
                <a:effectLst/>
              </a:rPr>
              <a:t>Project Objectives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IN" b="1" i="0" u="none" strike="noStrike" dirty="0">
                <a:solidFill>
                  <a:srgbClr val="1C3B72"/>
                </a:solidFill>
                <a:effectLst/>
              </a:rPr>
              <a:t>	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Analyse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customer and campaign data to identify key factors influencing subscription behavior.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	Derive actionable insights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on optimal </a:t>
            </a:r>
            <a:r>
              <a:rPr lang="en-IN" i="0" u="none" strike="noStrike" dirty="0">
                <a:solidFill>
                  <a:srgbClr val="000000"/>
                </a:solidFill>
                <a:effectLst/>
              </a:rPr>
              <a:t>campaign timing, communication channels, and customer segmentation.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	Develop predictive models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to support data-driven decision-making and future campaign planning.</a:t>
            </a:r>
          </a:p>
          <a:p>
            <a:endParaRPr lang="en-US" dirty="0"/>
          </a:p>
        </p:txBody>
      </p:sp>
      <p:pic>
        <p:nvPicPr>
          <p:cNvPr id="5" name="Graphic 4" descr="Bar chart">
            <a:extLst>
              <a:ext uri="{FF2B5EF4-FFF2-40B4-BE49-F238E27FC236}">
                <a16:creationId xmlns:a16="http://schemas.microsoft.com/office/drawing/2014/main" id="{4DA1E8DE-8E70-8319-1403-B384B5114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158" y="4232424"/>
            <a:ext cx="339436" cy="339436"/>
          </a:xfrm>
          <a:prstGeom prst="rect">
            <a:avLst/>
          </a:prstGeom>
        </p:spPr>
      </p:pic>
      <p:pic>
        <p:nvPicPr>
          <p:cNvPr id="9" name="Graphic 8" descr="Bullseye">
            <a:extLst>
              <a:ext uri="{FF2B5EF4-FFF2-40B4-BE49-F238E27FC236}">
                <a16:creationId xmlns:a16="http://schemas.microsoft.com/office/drawing/2014/main" id="{0F9D0279-1973-1EFA-FA1E-D72CAC64B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085" y="5207495"/>
            <a:ext cx="325582" cy="325582"/>
          </a:xfrm>
          <a:prstGeom prst="rect">
            <a:avLst/>
          </a:prstGeom>
        </p:spPr>
      </p:pic>
      <p:pic>
        <p:nvPicPr>
          <p:cNvPr id="11" name="Graphic 10" descr="Research">
            <a:extLst>
              <a:ext uri="{FF2B5EF4-FFF2-40B4-BE49-F238E27FC236}">
                <a16:creationId xmlns:a16="http://schemas.microsoft.com/office/drawing/2014/main" id="{0DC79100-F49A-6B12-CAA9-E68B733CEF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158" y="4717815"/>
            <a:ext cx="339436" cy="33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4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8B43-4183-7927-1694-0F419B33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Data Preparation &amp; Analytical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3879-2265-5080-96D1-4C6AC849B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94425"/>
            <a:ext cx="7417179" cy="19520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Data Preparation</a:t>
            </a:r>
            <a:endParaRPr lang="en-IN" sz="1600" b="0" i="0" u="none" strike="noStrike" dirty="0">
              <a:solidFill>
                <a:srgbClr val="1C3B72"/>
              </a:solidFill>
              <a:effectLst/>
            </a:endParaRPr>
          </a:p>
          <a:p>
            <a:pPr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Handled “unknown” values as valid categories, not dropped.</a:t>
            </a:r>
          </a:p>
          <a:p>
            <a:pPr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One-hot encoded nominal features; label encoded binary variables.</a:t>
            </a:r>
          </a:p>
          <a:p>
            <a:pPr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Created engineered features: age_group, duration_bucket, month_quarter.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71317-FDFF-53EF-132F-AB4AE453C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732" y="3561197"/>
            <a:ext cx="4605316" cy="1294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032479-B93E-9432-42D4-26D67C780ADF}"/>
              </a:ext>
            </a:extLst>
          </p:cNvPr>
          <p:cNvSpPr txBox="1"/>
          <p:nvPr/>
        </p:nvSpPr>
        <p:spPr>
          <a:xfrm>
            <a:off x="581191" y="3429001"/>
            <a:ext cx="10843554" cy="3372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Analytical Approach</a:t>
            </a:r>
            <a:endParaRPr lang="en-IN" sz="1600" i="0" u="none" strike="noStrike" dirty="0">
              <a:solidFill>
                <a:srgbClr val="1C3B72"/>
              </a:solidFill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</a:rPr>
              <a:t>Business Process Mapping </a:t>
            </a:r>
            <a:r>
              <a:rPr lang="en-IN" sz="1600" dirty="0">
                <a:solidFill>
                  <a:srgbClr val="000000"/>
                </a:solidFill>
              </a:rPr>
              <a:t>as seen in the adjacent figure.</a:t>
            </a:r>
            <a:endParaRPr lang="en-IN" sz="1600" u="none" strike="noStrike" dirty="0">
              <a:solidFill>
                <a:srgbClr val="000000"/>
              </a:solidFill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solidFill>
                  <a:srgbClr val="000000"/>
                </a:solidFill>
                <a:effectLst/>
              </a:rPr>
              <a:t>EDA</a:t>
            </a:r>
            <a:r>
              <a:rPr lang="en-IN" sz="1600" u="none" strike="noStrike" dirty="0">
                <a:solidFill>
                  <a:srgbClr val="000000"/>
                </a:solidFill>
                <a:effectLst/>
              </a:rPr>
              <a:t> with visualizations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: grouped bar charts, bubble charts, histograms.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solidFill>
                  <a:srgbClr val="000000"/>
                </a:solidFill>
                <a:effectLst/>
              </a:rPr>
              <a:t>Models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: Logistic Regression (feature impact), Decision Tree (rule-based splits).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</a:rPr>
              <a:t>Customer segmentation: </a:t>
            </a:r>
            <a:r>
              <a:rPr lang="en-IN" sz="1600" dirty="0">
                <a:solidFill>
                  <a:srgbClr val="000000"/>
                </a:solidFill>
              </a:rPr>
              <a:t>Combining demographic and behavioral attributes to define high/low-performing profiles.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Defined 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</a:rPr>
              <a:t>KPIs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: success rate, temporal conversion rate, segment-wise conversion.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</a:rPr>
              <a:t>Tools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: Python (Pandas, Seaborn, Scikit-learn) in Google Colab.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102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864E-A458-86B6-966F-977E5A6A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133289-BAFF-4D89-614B-435FC4439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6369" y="608457"/>
            <a:ext cx="6178062" cy="32681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7F98DF-88E0-8852-C7BD-F0D8951E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08316"/>
            <a:ext cx="5735681" cy="29501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ECBA09-756C-1A38-65F8-CA0F65FF0EBE}"/>
              </a:ext>
            </a:extLst>
          </p:cNvPr>
          <p:cNvSpPr txBox="1"/>
          <p:nvPr/>
        </p:nvSpPr>
        <p:spPr>
          <a:xfrm>
            <a:off x="492369" y="1992923"/>
            <a:ext cx="5603631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IN" sz="1700" b="1" dirty="0">
                <a:solidFill>
                  <a:srgbClr val="1C3B72"/>
                </a:solidFill>
              </a:rPr>
              <a:t>Students (74.7%)</a:t>
            </a:r>
            <a:r>
              <a:rPr lang="en-IN" sz="1700" dirty="0">
                <a:solidFill>
                  <a:srgbClr val="1C3B72"/>
                </a:solidFill>
              </a:rPr>
              <a:t> and </a:t>
            </a:r>
            <a:r>
              <a:rPr lang="en-IN" sz="1700" b="1" dirty="0">
                <a:solidFill>
                  <a:srgbClr val="1C3B72"/>
                </a:solidFill>
              </a:rPr>
              <a:t>retired (66.3%)</a:t>
            </a:r>
            <a:r>
              <a:rPr lang="en-IN" sz="1700" dirty="0">
                <a:solidFill>
                  <a:srgbClr val="1C3B72"/>
                </a:solidFill>
              </a:rPr>
              <a:t> </a:t>
            </a:r>
            <a:r>
              <a:rPr lang="en-IN" sz="1700" dirty="0"/>
              <a:t>convert highest; </a:t>
            </a:r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Blue-collar</a:t>
            </a:r>
            <a:r>
              <a:rPr lang="en-IN" sz="1600" b="0" i="0" u="none" strike="noStrike" dirty="0">
                <a:solidFill>
                  <a:srgbClr val="1C3B72"/>
                </a:solidFill>
                <a:effectLst/>
              </a:rPr>
              <a:t> 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underperforms despite size</a:t>
            </a:r>
            <a:r>
              <a:rPr lang="en-IN" sz="1700" dirty="0"/>
              <a:t>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sz="1700" b="1" i="1" dirty="0">
                <a:solidFill>
                  <a:srgbClr val="1C3B72"/>
                </a:solidFill>
              </a:rPr>
              <a:t>Management</a:t>
            </a:r>
            <a:r>
              <a:rPr lang="en-IN" sz="1700" b="1" dirty="0">
                <a:solidFill>
                  <a:srgbClr val="1C3B72"/>
                </a:solidFill>
              </a:rPr>
              <a:t>, </a:t>
            </a:r>
            <a:r>
              <a:rPr lang="en-IN" sz="1700" b="1" i="1" dirty="0">
                <a:solidFill>
                  <a:srgbClr val="1C3B72"/>
                </a:solidFill>
              </a:rPr>
              <a:t>admin</a:t>
            </a:r>
            <a:r>
              <a:rPr lang="en-IN" sz="1700" b="1" dirty="0">
                <a:solidFill>
                  <a:srgbClr val="1C3B72"/>
                </a:solidFill>
              </a:rPr>
              <a:t>, and </a:t>
            </a:r>
            <a:r>
              <a:rPr lang="en-IN" sz="1700" b="1" i="1" dirty="0">
                <a:solidFill>
                  <a:srgbClr val="1C3B72"/>
                </a:solidFill>
              </a:rPr>
              <a:t>technicians</a:t>
            </a:r>
            <a:r>
              <a:rPr lang="en-IN" sz="1700" b="1" dirty="0">
                <a:solidFill>
                  <a:srgbClr val="1C3B72"/>
                </a:solidFill>
              </a:rPr>
              <a:t> </a:t>
            </a:r>
            <a:r>
              <a:rPr lang="en-IN" sz="1700" dirty="0"/>
              <a:t>convert moderately but represent sizeable customer groups.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sz="1700" b="1" i="1" dirty="0">
                <a:solidFill>
                  <a:srgbClr val="1C3B72"/>
                </a:solidFill>
              </a:rPr>
              <a:t>Entrepreneurs</a:t>
            </a:r>
            <a:r>
              <a:rPr lang="en-IN" sz="1700" b="1" dirty="0">
                <a:solidFill>
                  <a:srgbClr val="1C3B72"/>
                </a:solidFill>
              </a:rPr>
              <a:t>, </a:t>
            </a:r>
            <a:r>
              <a:rPr lang="en-IN" sz="1700" b="1" i="1" dirty="0">
                <a:solidFill>
                  <a:srgbClr val="1C3B72"/>
                </a:solidFill>
              </a:rPr>
              <a:t>services</a:t>
            </a:r>
            <a:r>
              <a:rPr lang="en-IN" sz="1700" b="1" dirty="0">
                <a:solidFill>
                  <a:srgbClr val="1C3B72"/>
                </a:solidFill>
              </a:rPr>
              <a:t>, and </a:t>
            </a:r>
            <a:r>
              <a:rPr lang="en-IN" sz="1700" b="1" i="1" dirty="0">
                <a:solidFill>
                  <a:srgbClr val="1C3B72"/>
                </a:solidFill>
              </a:rPr>
              <a:t>housemaids</a:t>
            </a:r>
            <a:r>
              <a:rPr lang="en-IN" sz="1700" b="1" dirty="0">
                <a:solidFill>
                  <a:srgbClr val="1C3B72"/>
                </a:solidFill>
              </a:rPr>
              <a:t> </a:t>
            </a:r>
            <a:r>
              <a:rPr lang="en-IN" sz="1700" dirty="0"/>
              <a:t>perform consistently low.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sz="17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IN" sz="1700" b="1" dirty="0">
                <a:solidFill>
                  <a:srgbClr val="1C3B72"/>
                </a:solidFill>
              </a:rPr>
              <a:t>Tertiary-educated</a:t>
            </a:r>
            <a:r>
              <a:rPr lang="en-IN" sz="1700" dirty="0"/>
              <a:t> convert best; lower education shows weaker response.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sz="17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IN" sz="1700" b="1" dirty="0">
                <a:solidFill>
                  <a:srgbClr val="1C3B72"/>
                </a:solidFill>
              </a:rPr>
              <a:t>Single</a:t>
            </a:r>
            <a:r>
              <a:rPr lang="en-IN" sz="1700" dirty="0"/>
              <a:t> customers outperform married and divorced in conversion.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sz="17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IN" sz="1700" b="1" dirty="0">
                <a:solidFill>
                  <a:srgbClr val="1C3B72"/>
                </a:solidFill>
              </a:rPr>
              <a:t>Higher balance</a:t>
            </a:r>
            <a:r>
              <a:rPr lang="en-IN" sz="1700" dirty="0">
                <a:solidFill>
                  <a:srgbClr val="1C3B72"/>
                </a:solidFill>
              </a:rPr>
              <a:t> </a:t>
            </a:r>
            <a:r>
              <a:rPr lang="en-IN" sz="1700" dirty="0"/>
              <a:t>links to higher subscription; very low balances convert rarely.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A7296F34-0A42-6B8F-737B-54FA153C37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4983569"/>
                  </p:ext>
                </p:extLst>
              </p:nvPr>
            </p:nvGraphicFramePr>
            <p:xfrm>
              <a:off x="7093628" y="3418491"/>
              <a:ext cx="219131" cy="186558"/>
            </p:xfrm>
            <a:graphic>
              <a:graphicData uri="http://schemas.microsoft.com/office/powerpoint/2016/slidezoom">
                <pslz:sldZm>
                  <pslz:sldZmObj sldId="269" cId="3476529916">
                    <pslz:zmPr id="{55ECB4DC-1F14-B840-8600-ACCDF6A4B4CA}" imageType="cover" transitionDur="2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9131" cy="1865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7" name="Slide Zoom 1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A7296F34-0A42-6B8F-737B-54FA153C37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3628" y="3418491"/>
                <a:ext cx="219131" cy="1865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323CFD86-AEEE-6310-71C0-4E45A2E0C0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0848578"/>
                  </p:ext>
                </p:extLst>
              </p:nvPr>
            </p:nvGraphicFramePr>
            <p:xfrm>
              <a:off x="8894379" y="6408026"/>
              <a:ext cx="250768" cy="213492"/>
            </p:xfrm>
            <a:graphic>
              <a:graphicData uri="http://schemas.microsoft.com/office/powerpoint/2016/slidezoom">
                <pslz:sldZm>
                  <pslz:sldZmObj sldId="270" cId="3225756922">
                    <pslz:zmPr id="{3150B839-646A-0242-9D75-12E08BF359B6}" imageType="cover" transitionDur="2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0768" cy="21349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Slide Zoom 1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323CFD86-AEEE-6310-71C0-4E45A2E0C0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94379" y="6408026"/>
                <a:ext cx="250768" cy="21349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011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0146-C04E-69FA-C103-CA8054F8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Age &amp;</a:t>
            </a:r>
            <a:r>
              <a:rPr lang="en-IN" dirty="0"/>
              <a:t> </a:t>
            </a:r>
            <a:r>
              <a:rPr lang="en-IN" b="0" i="0" u="none" strike="noStrike" dirty="0">
                <a:effectLst/>
              </a:rPr>
              <a:t>Financial Liability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46A39-818A-B6CC-D147-CD65B12E8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092"/>
          <a:stretch/>
        </p:blipFill>
        <p:spPr>
          <a:xfrm>
            <a:off x="6178064" y="3498364"/>
            <a:ext cx="5458476" cy="33447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6897E27-877E-DD18-0BF0-32C0E89FE7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5" t="7075" r="1316" b="3345"/>
          <a:stretch/>
        </p:blipFill>
        <p:spPr>
          <a:xfrm>
            <a:off x="5756032" y="574432"/>
            <a:ext cx="6408644" cy="30245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CDBFA2-B510-5DD9-EBCF-C888F8D01E96}"/>
              </a:ext>
            </a:extLst>
          </p:cNvPr>
          <p:cNvSpPr txBox="1"/>
          <p:nvPr/>
        </p:nvSpPr>
        <p:spPr>
          <a:xfrm>
            <a:off x="515815" y="1960910"/>
            <a:ext cx="52871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60+ Segment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Highest conversion rate (~76%), smaller demographic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Minimal debt burden (both housing and personal loans)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IN" sz="1600" dirty="0">
              <a:solidFill>
                <a:srgbClr val="000000"/>
              </a:solidFill>
            </a:endParaRPr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Under-30 Segment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High conversion, Smallest segment, Moderate debt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IN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30–44 Segment </a:t>
            </a:r>
            <a:r>
              <a:rPr lang="en-IN" sz="1600" b="1" i="1" u="none" strike="noStrike" dirty="0">
                <a:solidFill>
                  <a:srgbClr val="1C3B72"/>
                </a:solidFill>
                <a:effectLst/>
              </a:rPr>
              <a:t>(Focused Analysis)</a:t>
            </a:r>
            <a:endParaRPr lang="en-IN" sz="1600" b="1" i="0" u="none" strike="noStrike" dirty="0">
              <a:solidFill>
                <a:srgbClr val="1C3B72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Largest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 demographic (~39% of contacted customers)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Lowest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 conversion rate (~43%) 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Over 55% carry housing loans; highest across all groups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Personal loan exposure also elevated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Frequently appears as a low-performing terminal node in decision tree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sz="1600" dirty="0"/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45–59 Segment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</a:rPr>
              <a:t>Moderate-to-large in size, Conversion mirrors 30–44 group, Notable liabilities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ADBE24DC-8B1A-0421-0292-8197F75A1A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4835357"/>
                  </p:ext>
                </p:extLst>
              </p:nvPr>
            </p:nvGraphicFramePr>
            <p:xfrm>
              <a:off x="11318987" y="3348800"/>
              <a:ext cx="291821" cy="248442"/>
            </p:xfrm>
            <a:graphic>
              <a:graphicData uri="http://schemas.microsoft.com/office/powerpoint/2016/slidezoom">
                <pslz:sldZm>
                  <pslz:sldZmObj sldId="271" cId="3547353901">
                    <pslz:zmPr id="{BF0E2CE4-183D-4040-8928-A766DDC8DAA5}" imageType="cover" transitionDur="2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1821" cy="24844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4" name="Slide Zoom 2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DBE24DC-8B1A-0421-0292-8197F75A1A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18987" y="3348800"/>
                <a:ext cx="291821" cy="24844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BBAAAC9C-0234-FD5A-795B-34084D6EBA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8503777"/>
                  </p:ext>
                </p:extLst>
              </p:nvPr>
            </p:nvGraphicFramePr>
            <p:xfrm>
              <a:off x="11334502" y="6485225"/>
              <a:ext cx="276306" cy="235234"/>
            </p:xfrm>
            <a:graphic>
              <a:graphicData uri="http://schemas.microsoft.com/office/powerpoint/2016/slidezoom">
                <pslz:sldZm>
                  <pslz:sldZmObj sldId="272" cId="691745810">
                    <pslz:zmPr id="{48F09C87-E440-C345-84E3-38A568C44237}" imageType="cover" transitionDur="2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6306" cy="2352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6" name="Slide Zoom 2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BAAAC9C-0234-FD5A-795B-34084D6EBA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34502" y="6485225"/>
                <a:ext cx="276306" cy="2352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86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3980-4E33-BB93-09DD-1A821B8F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Campaign Strategy &amp;</a:t>
            </a:r>
            <a:br>
              <a:rPr lang="en-IN" b="0" i="0" u="none" strike="noStrike" dirty="0">
                <a:effectLst/>
              </a:rPr>
            </a:br>
            <a:r>
              <a:rPr lang="en-IN" b="0" i="0" u="none" strike="noStrike" dirty="0">
                <a:effectLst/>
              </a:rPr>
              <a:t>Call Effectiveness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1676B-66D2-DAF8-D772-46104A3E5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6621" b="11806"/>
          <a:stretch/>
        </p:blipFill>
        <p:spPr>
          <a:xfrm>
            <a:off x="6813560" y="600441"/>
            <a:ext cx="5149841" cy="21348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2F1DB-ECBD-9C8C-63F9-F296558AE1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58" b="11567"/>
          <a:stretch/>
        </p:blipFill>
        <p:spPr>
          <a:xfrm>
            <a:off x="6743700" y="2694842"/>
            <a:ext cx="5149841" cy="2134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CDF13-5945-8BA6-5E07-BEC9995E85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85" b="15526"/>
          <a:stretch/>
        </p:blipFill>
        <p:spPr>
          <a:xfrm>
            <a:off x="6813808" y="4876801"/>
            <a:ext cx="5155933" cy="1879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B699B9-7CFE-1C1E-84BD-BA83C8DBF1EA}"/>
              </a:ext>
            </a:extLst>
          </p:cNvPr>
          <p:cNvSpPr txBox="1"/>
          <p:nvPr/>
        </p:nvSpPr>
        <p:spPr>
          <a:xfrm>
            <a:off x="539760" y="2035071"/>
            <a:ext cx="599438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Call Duration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Conversion rate increases with duration; best results after 180 s.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Calls under 60 seconds rarely convert; too short to convey value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IN" sz="160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Days Since Last Contact (Pdays)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Spikes at 90 and 180 days suggest effective scheduled follow-ups.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420+ day dormant leads still convert well; valuable to re-engage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IN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Number of Contacts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2–3 attempts yield most conversions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Beyond that, conversion drops; indicating fatigue</a:t>
            </a:r>
          </a:p>
          <a:p>
            <a:pPr marL="285750" indent="-285750" algn="l">
              <a:buFont typeface="Wingdings" pitchFamily="2" charset="2"/>
              <a:buChar char="§"/>
            </a:pPr>
            <a:endParaRPr lang="en-IN" sz="1600" b="1" i="0" u="none" strike="noStrike" dirty="0">
              <a:solidFill>
                <a:srgbClr val="1C3B72"/>
              </a:solidFill>
              <a:effectLst/>
            </a:endParaRPr>
          </a:p>
          <a:p>
            <a:pPr algn="l"/>
            <a:r>
              <a:rPr lang="en-IN" sz="1600" b="1" i="0" u="none" strike="noStrike" dirty="0">
                <a:solidFill>
                  <a:srgbClr val="1C3B72"/>
                </a:solidFill>
                <a:effectLst/>
              </a:rPr>
              <a:t>Conversion by Month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Top months: December (91%), March (89.9%), September (84.3%), October (82.4%) — high return, low outreach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i="0" u="none" strike="noStrike" dirty="0">
                <a:solidFill>
                  <a:srgbClr val="000000"/>
                </a:solidFill>
                <a:effectLst/>
              </a:rPr>
              <a:t>May: Most contacts but lowest conversion (32.8%)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</a:rPr>
              <a:t>High-volume months like June–August &amp; Nov showed poor ROI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04CDE005-2D72-EA1B-086D-C739D7FC22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7778996"/>
                  </p:ext>
                </p:extLst>
              </p:nvPr>
            </p:nvGraphicFramePr>
            <p:xfrm>
              <a:off x="11559445" y="1923069"/>
              <a:ext cx="259634" cy="221040"/>
            </p:xfrm>
            <a:graphic>
              <a:graphicData uri="http://schemas.microsoft.com/office/powerpoint/2016/slidezoom">
                <pslz:sldZm>
                  <pslz:sldZmObj sldId="273" cId="3831206268">
                    <pslz:zmPr id="{BFE8FE9B-325B-6244-8EF2-3CBEA1FAB07F}" imageType="cover" transitionDur="2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9634" cy="22104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Slide Zoom 11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4CDE005-2D72-EA1B-086D-C739D7FC22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59445" y="1923069"/>
                <a:ext cx="259634" cy="22104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0CDE5CE8-FA57-7BB4-7873-97B28CC3E5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3426118"/>
                  </p:ext>
                </p:extLst>
              </p:nvPr>
            </p:nvGraphicFramePr>
            <p:xfrm>
              <a:off x="11569956" y="4013259"/>
              <a:ext cx="264580" cy="225251"/>
            </p:xfrm>
            <a:graphic>
              <a:graphicData uri="http://schemas.microsoft.com/office/powerpoint/2016/slidezoom">
                <pslz:sldZm>
                  <pslz:sldZmObj sldId="274" cId="524435319">
                    <pslz:zmPr id="{86956306-1701-1D41-8DAF-A49F0A78F93A}" imageType="cover" transitionDur="2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4580" cy="2252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0CDE5CE8-FA57-7BB4-7873-97B28CC3E5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69956" y="4013259"/>
                <a:ext cx="264580" cy="2252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76FD2AFD-2EC4-001E-283B-58A01F7EE8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7833814"/>
                  </p:ext>
                </p:extLst>
              </p:nvPr>
            </p:nvGraphicFramePr>
            <p:xfrm>
              <a:off x="11585149" y="6380049"/>
              <a:ext cx="233930" cy="199157"/>
            </p:xfrm>
            <a:graphic>
              <a:graphicData uri="http://schemas.microsoft.com/office/powerpoint/2016/slidezoom">
                <pslz:sldZm>
                  <pslz:sldZmObj sldId="275" cId="2987767277">
                    <pslz:zmPr id="{73FC15AA-B4B0-9845-B465-77A4054FDC66}" imageType="cover" transitionDur="2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33930" cy="19915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6" name="Slide Zoom 1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6FD2AFD-2EC4-001E-283B-58A01F7EE8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85149" y="6380049"/>
                <a:ext cx="233930" cy="19915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901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7AB92-6960-BDAF-65A1-A7931D20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Predictive Modeling for Campaign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F9D53-E6C7-63BE-57F1-B9C2482D0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767056" cy="4546125"/>
          </a:xfrm>
        </p:spPr>
        <p:txBody>
          <a:bodyPr>
            <a:normAutofit/>
          </a:bodyPr>
          <a:lstStyle/>
          <a:p>
            <a:r>
              <a:rPr lang="en-IN" b="1" dirty="0"/>
              <a:t>Built predictive models</a:t>
            </a:r>
            <a:r>
              <a:rPr lang="en-IN" dirty="0"/>
              <a:t> to support strategic, data-driven planning and improve targeting efficiency</a:t>
            </a:r>
          </a:p>
          <a:p>
            <a:r>
              <a:rPr lang="en-IN" b="1" dirty="0"/>
              <a:t>Validated patterns</a:t>
            </a:r>
            <a:r>
              <a:rPr lang="en-IN" dirty="0"/>
              <a:t> seen during EDA using interpretable models to </a:t>
            </a:r>
            <a:r>
              <a:rPr lang="en-IN" b="1" dirty="0"/>
              <a:t>quantify feature impact</a:t>
            </a: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Logistic regression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highlighted top influencers—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past success, call duration,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campaign timing Sep/Oct/Dec/Mar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boosted conversion, while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unknown contact type,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loans,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Jan/Jul/Nov campaigns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reduced it.</a:t>
            </a: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Decision tree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revealed high-conversion paths —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long calls, past success, cellular contact, age 60+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— and dead-end patterns like </a:t>
            </a:r>
            <a:r>
              <a:rPr lang="en-IN" b="0" i="1" u="none" strike="noStrike" dirty="0">
                <a:solidFill>
                  <a:srgbClr val="000000"/>
                </a:solidFill>
                <a:effectLst/>
              </a:rPr>
              <a:t>medium calls + unknown contact + age 30–44</a:t>
            </a:r>
            <a:r>
              <a:rPr lang="en-IN" dirty="0">
                <a:solidFill>
                  <a:srgbClr val="000000"/>
                </a:solidFill>
              </a:rPr>
              <a:t> etc.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dirty="0"/>
              <a:t>Identified top-performing segments</a:t>
            </a:r>
            <a:r>
              <a:rPr lang="en-IN" dirty="0"/>
              <a:t> to create actionable campaign profiles for future use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1CDA5-B293-2B9F-8391-8FAA24D7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710" y="2385848"/>
            <a:ext cx="5514583" cy="326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3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5637-63B0-5B7B-5CA2-20D41547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STRATEGIC RECOMMENDATIONS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20DEC7-9DEE-69C7-69D7-2E4317E21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507403"/>
              </p:ext>
            </p:extLst>
          </p:nvPr>
        </p:nvGraphicFramePr>
        <p:xfrm>
          <a:off x="581025" y="2181224"/>
          <a:ext cx="11029950" cy="4272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719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5637-63B0-5B7B-5CA2-20D41547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effectLst/>
              </a:rPr>
              <a:t>STRATEGIC RECOMMENDATIONS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20DEC7-9DEE-69C7-69D7-2E4317E21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408063"/>
              </p:ext>
            </p:extLst>
          </p:nvPr>
        </p:nvGraphicFramePr>
        <p:xfrm>
          <a:off x="581025" y="2181224"/>
          <a:ext cx="11029950" cy="4272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846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B0D26DD-7B2A-1F6B-48E0-A72DFE25D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62" y="598593"/>
            <a:ext cx="12011476" cy="6354000"/>
          </a:xfrm>
        </p:spPr>
      </p:pic>
    </p:spTree>
    <p:extLst>
      <p:ext uri="{BB962C8B-B14F-4D97-AF65-F5344CB8AC3E}">
        <p14:creationId xmlns:p14="http://schemas.microsoft.com/office/powerpoint/2010/main" val="347652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F9E2-3ABE-E9C2-833B-57B72CEB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AAD4-7632-96E3-518A-B0B70939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B412B-B010-DED7-A0FA-4F0AC6F2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52" y="544503"/>
            <a:ext cx="11774695" cy="605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6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A2AC-ECDA-DC59-13B1-75C79E94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7803-EA7F-10AB-8A4A-72083D9CB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EF33F-05D4-6391-E5BD-DF5DEE73CA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5" t="7075" r="1316" b="3345"/>
          <a:stretch/>
        </p:blipFill>
        <p:spPr>
          <a:xfrm>
            <a:off x="199699" y="605966"/>
            <a:ext cx="11891407" cy="56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5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4244-FDD1-F91B-EFD6-6AC9070E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6BFE-B6C0-22BA-0E16-E1DC283F3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32DF1-417C-CA54-BC1E-64F80938CA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92"/>
          <a:stretch/>
        </p:blipFill>
        <p:spPr>
          <a:xfrm>
            <a:off x="409903" y="399393"/>
            <a:ext cx="11382703" cy="645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4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83E4-0BD1-DF08-3CAD-C847BABC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EE1DCD-6293-43A4-9D88-A3EE4FB4D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910"/>
          <a:stretch/>
        </p:blipFill>
        <p:spPr>
          <a:xfrm>
            <a:off x="-9046" y="607564"/>
            <a:ext cx="12085431" cy="5569300"/>
          </a:xfrm>
        </p:spPr>
      </p:pic>
    </p:spTree>
    <p:extLst>
      <p:ext uri="{BB962C8B-B14F-4D97-AF65-F5344CB8AC3E}">
        <p14:creationId xmlns:p14="http://schemas.microsoft.com/office/powerpoint/2010/main" val="3831206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A993-317C-9E72-EA5A-C707500D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0DD39F-009F-792B-0FF9-3563BE4E0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1513"/>
          <a:stretch/>
        </p:blipFill>
        <p:spPr>
          <a:xfrm>
            <a:off x="1" y="607563"/>
            <a:ext cx="12192000" cy="5288740"/>
          </a:xfrm>
        </p:spPr>
      </p:pic>
    </p:spTree>
    <p:extLst>
      <p:ext uri="{BB962C8B-B14F-4D97-AF65-F5344CB8AC3E}">
        <p14:creationId xmlns:p14="http://schemas.microsoft.com/office/powerpoint/2010/main" val="524435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BB5D71-933F-C22D-ADB6-C06407F64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3783" b="9857"/>
          <a:stretch/>
        </p:blipFill>
        <p:spPr>
          <a:xfrm>
            <a:off x="0" y="-798786"/>
            <a:ext cx="12192000" cy="6653048"/>
          </a:xfrm>
        </p:spPr>
      </p:pic>
    </p:spTree>
    <p:extLst>
      <p:ext uri="{BB962C8B-B14F-4D97-AF65-F5344CB8AC3E}">
        <p14:creationId xmlns:p14="http://schemas.microsoft.com/office/powerpoint/2010/main" val="29877672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{78F55EFE-3212-AA49-AF7B-D609FDC18585}tf10001123</Template>
  <TotalTime>7814</TotalTime>
  <Words>1423</Words>
  <Application>Microsoft Macintosh PowerPoint</Application>
  <PresentationFormat>Widescreen</PresentationFormat>
  <Paragraphs>241</Paragraphs>
  <Slides>18</Slides>
  <Notes>3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-webkit-standard</vt:lpstr>
      <vt:lpstr>Arial</vt:lpstr>
      <vt:lpstr>Calibri</vt:lpstr>
      <vt:lpstr>Gill Sans MT</vt:lpstr>
      <vt:lpstr>Wingdings</vt:lpstr>
      <vt:lpstr>Wingdings 2</vt:lpstr>
      <vt:lpstr>Dividend</vt:lpstr>
      <vt:lpstr> Improving Term Deposit Subscription Rates through Data-Driven Customer Segmentation and Campaign Optimization </vt:lpstr>
      <vt:lpstr>Metadata &amp; descriptive statistics</vt:lpstr>
      <vt:lpstr>Organization Background and dataset details</vt:lpstr>
      <vt:lpstr>Problem Statement and Objectives</vt:lpstr>
      <vt:lpstr>Data Preparation &amp; Analytical Approach</vt:lpstr>
      <vt:lpstr>Demographic insights</vt:lpstr>
      <vt:lpstr>Age &amp; Financial Liability</vt:lpstr>
      <vt:lpstr>Campaign Strategy &amp; Call Effectiveness</vt:lpstr>
      <vt:lpstr>Predictive Modeling for Campaign Optimization</vt:lpstr>
      <vt:lpstr>STRATEGIC RECOMMENDATIONS</vt:lpstr>
      <vt:lpstr>STRATEGIC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Improving Term Deposit Subscription Rates through Data-Driven Customer Segmentation and Campaign Optimization </dc:title>
  <dc:creator>Microsoft Office User</dc:creator>
  <cp:lastModifiedBy>Microsoft Office User</cp:lastModifiedBy>
  <cp:revision>118</cp:revision>
  <dcterms:created xsi:type="dcterms:W3CDTF">2025-08-15T05:08:09Z</dcterms:created>
  <dcterms:modified xsi:type="dcterms:W3CDTF">2025-08-20T15:22:51Z</dcterms:modified>
</cp:coreProperties>
</file>